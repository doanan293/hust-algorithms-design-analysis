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0" r:id="rId4"/>
    <p:sldMasterId id="2147483681" r:id="rId5"/>
  </p:sldMasterIdLst>
  <p:notesMasterIdLst>
    <p:notesMasterId r:id="rId6"/>
  </p:notesMasterIdLst>
  <p:sldIdLst>
    <p:sldId id="256" r:id="rId7"/>
    <p:sldId id="258" r:id="rId9"/>
    <p:sldId id="259" r:id="rId10"/>
    <p:sldId id="260" r:id="rId11"/>
    <p:sldId id="263" r:id="rId14"/>
    <p:sldId id="310" r:id="rId91"/>
    <p:sldId id="264" r:id="rId15"/>
    <p:sldId id="266" r:id="rId17"/>
    <p:sldId id="307" r:id="rId88"/>
    <p:sldId id="311" r:id="rId92"/>
    <p:sldId id="262" r:id="rId13"/>
    <p:sldId id="308" r:id="rId89"/>
    <p:sldId id="278" r:id="rId29"/>
    <p:sldId id="280" r:id="rId31"/>
    <p:sldId id="309" r:id="rId90"/>
    <p:sldId id="269" r:id="rId20"/>
    <p:sldId id="282" r:id="rId33"/>
    <p:sldId id="268" r:id="rId19"/>
    <p:sldId id="275" r:id="rId26"/>
    <p:sldId id="312" r:id="rId93"/>
    <p:sldId id="279" r:id="rId30"/>
    <p:sldId id="285" r:id="rId36"/>
  </p:sldIdLst>
  <p:sldSz cy="5143500" cx="9144000"/>
  <p:notesSz cx="6858000" cy="9144000"/>
  <p:embeddedFontLst>
    <p:embeddedFont>
      <p:font typeface="IBM Plex Mono Medium"/>
      <p:regular r:id="rId58"/>
      <p:bold r:id="rId59"/>
      <p:italic r:id="rId60"/>
      <p:boldItalic r:id="rId61"/>
    </p:embeddedFont>
    <p:embeddedFont>
      <p:font typeface="Roboto Medium"/>
      <p:regular r:id="rId66"/>
      <p:bold r:id="rId67"/>
      <p:italic r:id="rId68"/>
      <p:boldItalic r:id="rId69"/>
    </p:embeddedFont>
    <p:embeddedFont>
      <p:font typeface="Amatic SC"/>
      <p:regular r:id="rId70"/>
      <p:bold r:id="rId71"/>
    </p:embeddedFont>
    <p:embeddedFont>
      <p:font typeface="Source Code Pro"/>
      <p:regular r:id="rId76"/>
      <p:bold r:id="rId77"/>
      <p:italic r:id="rId78"/>
      <p:boldItalic r:id="rId79"/>
    </p:embeddedFont>
    <p:embeddedFont>
      <p:font typeface="IBM Plex Mono"/>
      <p:regular r:id="rId84"/>
      <p:bold r:id="rId85"/>
      <p:italic r:id="rId86"/>
      <p:boldItalic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D878CF6-9ED4-40B7-9E80-8D88FA82EDE6}">
  <a:tblStyle styleId="{7D878CF6-9ED4-40B7-9E80-8D88FA82EDE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3" Type="http://schemas.openxmlformats.org/officeDocument/2006/relationships/slide" Target="slides/slide11.xml"/><Relationship Id="rId14" Type="http://schemas.openxmlformats.org/officeDocument/2006/relationships/slide" Target="slides/slide5.xml"/><Relationship Id="rId15" Type="http://schemas.openxmlformats.org/officeDocument/2006/relationships/slide" Target="slides/slide7.xml"/><Relationship Id="rId17" Type="http://schemas.openxmlformats.org/officeDocument/2006/relationships/slide" Target="slides/slide8.xml"/><Relationship Id="rId19" Type="http://schemas.openxmlformats.org/officeDocument/2006/relationships/slide" Target="slides/slide18.xml"/><Relationship Id="rId20" Type="http://schemas.openxmlformats.org/officeDocument/2006/relationships/slide" Target="slides/slide16.xml"/><Relationship Id="rId26" Type="http://schemas.openxmlformats.org/officeDocument/2006/relationships/slide" Target="slides/slide19.xml"/><Relationship Id="rId29" Type="http://schemas.openxmlformats.org/officeDocument/2006/relationships/slide" Target="slides/slide13.xml"/><Relationship Id="rId30" Type="http://schemas.openxmlformats.org/officeDocument/2006/relationships/slide" Target="slides/slide21.xml"/><Relationship Id="rId31" Type="http://schemas.openxmlformats.org/officeDocument/2006/relationships/slide" Target="slides/slide14.xml"/><Relationship Id="rId33" Type="http://schemas.openxmlformats.org/officeDocument/2006/relationships/slide" Target="slides/slide17.xml"/><Relationship Id="rId36" Type="http://schemas.openxmlformats.org/officeDocument/2006/relationships/slide" Target="slides/slide22.xml"/><Relationship Id="rId58" Type="http://schemas.openxmlformats.org/officeDocument/2006/relationships/font" Target="fonts/IBMPlexMonoMedium-regular.fntdata"/><Relationship Id="rId59" Type="http://schemas.openxmlformats.org/officeDocument/2006/relationships/font" Target="fonts/IBMPlexMonoMedium-bold.fntdata"/><Relationship Id="rId60" Type="http://schemas.openxmlformats.org/officeDocument/2006/relationships/font" Target="fonts/IBMPlexMonoMedium-italic.fntdata"/><Relationship Id="rId61" Type="http://schemas.openxmlformats.org/officeDocument/2006/relationships/font" Target="fonts/IBMPlexMonoMedium-boldItalic.fntdata"/><Relationship Id="rId66" Type="http://schemas.openxmlformats.org/officeDocument/2006/relationships/font" Target="fonts/RobotoMedium-regular.fntdata"/><Relationship Id="rId67" Type="http://schemas.openxmlformats.org/officeDocument/2006/relationships/font" Target="fonts/RobotoMedium-bold.fntdata"/><Relationship Id="rId68" Type="http://schemas.openxmlformats.org/officeDocument/2006/relationships/font" Target="fonts/RobotoMedium-italic.fntdata"/><Relationship Id="rId69" Type="http://schemas.openxmlformats.org/officeDocument/2006/relationships/font" Target="fonts/RobotoMedium-boldItalic.fntdata"/><Relationship Id="rId70" Type="http://schemas.openxmlformats.org/officeDocument/2006/relationships/font" Target="fonts/AmaticSC-regular.fntdata"/><Relationship Id="rId71" Type="http://schemas.openxmlformats.org/officeDocument/2006/relationships/font" Target="fonts/AmaticSC-bold.fntdata"/><Relationship Id="rId76" Type="http://schemas.openxmlformats.org/officeDocument/2006/relationships/font" Target="fonts/SourceCodePro-regular.fntdata"/><Relationship Id="rId77" Type="http://schemas.openxmlformats.org/officeDocument/2006/relationships/font" Target="fonts/SourceCodePro-bold.fntdata"/><Relationship Id="rId78" Type="http://schemas.openxmlformats.org/officeDocument/2006/relationships/font" Target="fonts/SourceCodePro-italic.fntdata"/><Relationship Id="rId79" Type="http://schemas.openxmlformats.org/officeDocument/2006/relationships/font" Target="fonts/SourceCodePro-boldItalic.fntdata"/><Relationship Id="rId84" Type="http://schemas.openxmlformats.org/officeDocument/2006/relationships/font" Target="fonts/IBMPlexMono-regular.fntdata"/><Relationship Id="rId85" Type="http://schemas.openxmlformats.org/officeDocument/2006/relationships/font" Target="fonts/IBMPlexMono-bold.fntdata"/><Relationship Id="rId86" Type="http://schemas.openxmlformats.org/officeDocument/2006/relationships/font" Target="fonts/IBMPlexMono-italic.fntdata"/><Relationship Id="rId87" Type="http://schemas.openxmlformats.org/officeDocument/2006/relationships/font" Target="fonts/IBMPlexMono-boldItalic.fntdata"/><Relationship Id="rId88" Type="http://schemas.openxmlformats.org/officeDocument/2006/relationships/slide" Target="slides/slide9.xml"/><Relationship Id="rId89" Type="http://schemas.openxmlformats.org/officeDocument/2006/relationships/slide" Target="slides/slide12.xml"/><Relationship Id="rId90" Type="http://schemas.openxmlformats.org/officeDocument/2006/relationships/slide" Target="slides/slide15.xml"/><Relationship Id="rId91" Type="http://schemas.openxmlformats.org/officeDocument/2006/relationships/slide" Target="slides/slide6.xml"/><Relationship Id="rId92" Type="http://schemas.openxmlformats.org/officeDocument/2006/relationships/slide" Target="slides/slide10.xml"/><Relationship Id="rId93"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Wide</c:v>
                </c:pt>
              </c:strCache>
            </c:strRef>
          </c:tx>
          <c:spPr>
            <a:solidFill>
              <a:srgbClr val="0C0A9E"/>
            </a:solidFill>
          </c:spPr>
          <c:cat>
            <c:strRef>
              <c:f>Sheet1!$A$2:$A$7</c:f>
              <c:strCache>
                <c:ptCount val="6"/>
                <c:pt idx="0">
                  <c:v>NoUAV</c:v>
                </c:pt>
                <c:pt idx="1">
                  <c:v>FixedTour</c:v>
                </c:pt>
                <c:pt idx="2">
                  <c:v>SBS-Lex</c:v>
                </c:pt>
                <c:pt idx="3">
                  <c:v>Tran-IA</c:v>
                </c:pt>
                <c:pt idx="4">
                  <c:v>SBS</c:v>
                </c:pt>
                <c:pt idx="5">
                  <c:v>SBS-R</c:v>
                </c:pt>
              </c:strCache>
            </c:strRef>
          </c:cat>
          <c:val>
            <c:numRef>
              <c:f>Sheet1!$B$2:$B$7</c:f>
              <c:numCache>
                <c:formatCode>General</c:formatCode>
                <c:ptCount val="6"/>
                <c:pt idx="0">
                  <c:v>0.413</c:v>
                </c:pt>
                <c:pt idx="1">
                  <c:v>0.494</c:v>
                </c:pt>
                <c:pt idx="2">
                  <c:v>0.367</c:v>
                </c:pt>
                <c:pt idx="3">
                  <c:v>0.53</c:v>
                </c:pt>
                <c:pt idx="4">
                  <c:v>0.551</c:v>
                </c:pt>
                <c:pt idx="5">
                  <c:v>0.553</c:v>
                </c:pt>
              </c:numCache>
            </c:numRef>
          </c:val>
        </c:ser>
        <c:ser>
          <c:idx val="1"/>
          <c:order val="1"/>
          <c:tx>
            <c:strRef>
              <c:f>Sheet1!$C$1</c:f>
              <c:strCache>
                <c:ptCount val="1"/>
                <c:pt idx="0">
                  <c:v>Narrow</c:v>
                </c:pt>
              </c:strCache>
            </c:strRef>
          </c:tx>
          <c:spPr>
            <a:solidFill>
              <a:srgbClr val="EB9109"/>
            </a:solidFill>
          </c:spPr>
          <c:cat>
            <c:strRef>
              <c:f>Sheet1!$A$2:$A$7</c:f>
              <c:strCache>
                <c:ptCount val="6"/>
                <c:pt idx="0">
                  <c:v>NoUAV</c:v>
                </c:pt>
                <c:pt idx="1">
                  <c:v>FixedTour</c:v>
                </c:pt>
                <c:pt idx="2">
                  <c:v>SBS-Lex</c:v>
                </c:pt>
                <c:pt idx="3">
                  <c:v>Tran-IA</c:v>
                </c:pt>
                <c:pt idx="4">
                  <c:v>SBS</c:v>
                </c:pt>
                <c:pt idx="5">
                  <c:v>SBS-R</c:v>
                </c:pt>
              </c:strCache>
            </c:strRef>
          </c:cat>
          <c:val>
            <c:numRef>
              <c:f>Sheet1!$C$2:$C$7</c:f>
              <c:numCache>
                <c:formatCode>General</c:formatCode>
                <c:ptCount val="6"/>
                <c:pt idx="0">
                  <c:v>0.37</c:v>
                </c:pt>
                <c:pt idx="1">
                  <c:v>0.43</c:v>
                </c:pt>
                <c:pt idx="2">
                  <c:v>0.331</c:v>
                </c:pt>
                <c:pt idx="3">
                  <c:v>0.438</c:v>
                </c:pt>
                <c:pt idx="4">
                  <c:v>0.509</c:v>
                </c:pt>
                <c:pt idx="5">
                  <c:v>0.507</c:v>
                </c:pt>
              </c:numCache>
            </c:numRef>
          </c:val>
        </c:ser>
        <c:dLbls>
          <c:numFmt formatCode="0.00" sourceLinked="0"/>
          <c:txPr>
            <a:bodyPr/>
            <a:lstStyle/>
            <a:p>
              <a:pPr>
                <a:defRPr sz="700">
                  <a:solidFill>
                    <a:srgbClr val="1D1D1D"/>
                  </a:solidFill>
                  <a:latin typeface="Be Vietnam Pro"/>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800">
                <a:latin typeface="Be Vietnam Pro"/>
              </a:defRPr>
            </a:pPr>
          </a:p>
        </c:txPr>
        <c:crossAx val="-2113994440"/>
        <c:crosses val="autoZero"/>
        <c:auto val="1"/>
        <c:lblAlgn val="ctr"/>
        <c:lblOffset val="100"/>
        <c:noMultiLvlLbl val="0"/>
      </c:catAx>
      <c:valAx>
        <c:axId val="-2113994440"/>
        <c:scaling>
          <c:max val="0.65"/>
          <c:min val="0.0"/>
        </c:scaling>
        <c:delete val="0"/>
        <c:axPos val="l"/>
        <c:majorGridlines>
          <c:spPr>
            <a:ln>
              <a:solidFill>
                <a:srgbClr val="DDDDEE"/>
              </a:solidFill>
            </a:ln>
          </c:spPr>
        </c:majorGridlines>
        <c:majorTickMark val="out"/>
        <c:minorTickMark val="none"/>
        <c:tickLblPos val="nextTo"/>
        <c:spPr>
          <a:ln>
            <a:noFill/>
          </a:ln>
        </c:spPr>
        <c:txPr>
          <a:bodyPr/>
          <a:lstStyle/>
          <a:p>
            <a:pPr>
              <a:defRPr sz="800">
                <a:latin typeface="Be Vietnam Pro"/>
              </a:defRPr>
            </a:pPr>
          </a:p>
        </c:txPr>
        <c:crossAx val="-2068027336"/>
        <c:crosses val="autoZero"/>
      </c:valAx>
    </c:plotArea>
    <c:legend>
      <c:legendPos val="t"/>
      <c:overlay val="0"/>
      <c:txPr>
        <a:bodyPr/>
        <a:lstStyle/>
        <a:p>
          <a:pPr>
            <a:defRPr sz="900">
              <a:latin typeface="Be Vietnam Pro"/>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8" name="Google Shape;1428;gd1bf8d60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Giới thiệu đề tài: tối ưu đồng thời trajectory của UAV, relay path của từng alert và bandwidth để tối đa tỷ lệ alert tới rescue center đúng hạn. Bài phát triển từ paper của Huang et al. (Sensors 2025).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4" name="Google Shape;1464;g24e5c2c9e45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Bốn phần chính của bài thuyết trình.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1" name="Google Shape;1481;g24e6b4d5c3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Phần 1: so sánh bài toán của paper gốc với bài toán nhóm đặt ra.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8" name="Google Shape;1528;g24ed99bf1a4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Slide quan trọng nhất. Bên trái: paper gốc, UAV là relay hai chiều cho các cặp user, tối đa rate nhỏ nhất. Bên phải: bài của nhóm, alert phát ra trong damage zone phải tới rescue center trước deadline, đi qua UAV (thả xuống drop node u) hoặc qua ground relay v, trong khi một số relay đã mất backhaul. Bài toán thực tế hơn vì: có deadline cho từng alert, có mạng mặt đất còn sống với capacity hữu hạn, và UAV phải chọn vừa trajectory vừa đường đi cho từng alert.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0" name="Shape 1630"/>
        <p:cNvGrpSpPr/>
        <p:nvPr/>
      </p:nvGrpSpPr>
      <p:grpSpPr>
        <a:xfrm>
          <a:off x="0" y="0"/>
          <a:ext cx="0" cy="0"/>
          <a:chOff x="0" y="0"/>
          <a:chExt cx="0" cy="0"/>
        </a:xfrm>
      </p:grpSpPr>
      <p:sp>
        <p:nvSpPr>
          <p:cNvPr id="1631" name="Google Shape;1631;g24ed99bf1a4_0_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2" name="Google Shape;1632;g24ed99bf1a4_0_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NP-hardness cho thấy cần heuristic. LP bound cho phép đo khoảng cách còn lại tới tối ưu của bất kỳ plan nào; độ chặt của bound được kiểm tra bằng MILP trên instance nhỏ.</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24e6b4d5c31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4" name="Google Shape;1664;g24e6b4d5c31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Ba thách thức khiến các thiết kế dạng rate-based như paper gốc không chuyển thẳng sang bài toán gửi alert: mục tiêu đếm alert đúng hạn (rời rạc), backhaul hữu hạn của mạng mặt đất, và kênh PrLoS ngẫu nhiên.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0" name="Google Shape;1730;g24ed99bf1a4_0_4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Những gì nhóm giữ lại từ Huang et al.: mô hình kênh PrLoS và tham số, UAV là DF relay có buffer với ràng buộc causality, mô hình di chuyển, và ý tưởng chia bài toán thành ba khối tối ưu luân phiên.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24ed99bf1a4_0_7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7" name="Google Shape;1757;g24ed99bf1a4_0_7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Sáu thay đổi chính so với paper gốc. Hàng trên: thay đổi bài toán. Hàng dưới: thay đổi phương pháp và cách đánh giá.</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g24ed99bf1a4_0_1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4" name="Google Shape;1854;g24ed99bf1a4_0_1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Khác biệt cùng dấu trên cả mười topology, p-value sau Holm correction là nhỏ nhất có thể với 10 topology.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4" name="Google Shape;1914;g24ed99bf1a4_0_13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Thiết lập thực nghiệm. Mỗi phương pháp lập plan một lần, đánh giá trên 30 channel realization với common random numbers; so sánh paired theo topology, Holm correction.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3: thuật toán đề xuất.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Tóm tắt khác biệt theo từng khía cạnh. Cột tô tím là phần của nhóm.</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2: phát biểu bài toán và hai kết quả lý thuyết.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 gồm trajectory, chọn path và bandwidth. Mục tiêu so sánh theo thứ tự từ điển: trước hết tỷ lệ alert đúng hạn, sau đó connectivity, cuối cùng là phần dữ liệu còn thiếu. Kỳ vọng lấy trên các channel realization.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8" name="Shape 2118"/>
        <p:cNvGrpSpPr/>
        <p:nvPr/>
      </p:nvGrpSpPr>
      <p:grpSpPr>
        <a:xfrm>
          <a:off x="0" y="0"/>
          <a:ext cx="0" cy="0"/>
          <a:chOff x="0" y="0"/>
          <a:chExt cx="0" cy="0"/>
        </a:xfrm>
      </p:grpSpPr>
      <p:sp>
        <p:nvSpPr>
          <p:cNvPr id="2119" name="Google Shape;2119;g24ef22aa1ac_0_5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0" name="Google Shape;2120;g24ef22aa1ac_0_5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Δ so với SBS-R đầy đủ. Gain đến từ chọn path và trajectory đồng thời, trên sampled realizations. Khi EDF đã chia bandwidth theo backlog thì weight và repair gần như không thêm gì.</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4: kết quả thực nghiệm.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Tran-IA là thuật toán inner approximation của Tran et al., được điều chỉnh sang mô hình của nhóm. SBS tốt hơn và lập plan nhanh hơn, nhưng khác biệt chưa significant sau Holm. Case study RescueNet đặt source tại các tòa nhà hư hại thật và cho cùng thứ hạng.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5" name="Shape 2195"/>
        <p:cNvGrpSpPr/>
        <p:nvPr/>
      </p:nvGrpSpPr>
      <p:grpSpPr>
        <a:xfrm>
          <a:off x="0" y="0"/>
          <a:ext cx="0" cy="0"/>
          <a:chOff x="0" y="0"/>
          <a:chExt cx="0" cy="0"/>
        </a:xfrm>
      </p:grpSpPr>
      <p:sp>
        <p:nvSpPr>
          <p:cNvPr id="2196" name="Google Shape;2196;g24ef22aa1ac_0_10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7" name="Google Shape;2197;g24ef22aa1ac_0_10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Thử nghiệm sơ bộ trên 6 scenario: hướng dẫn từ LP không chuyển được sang EDF scheduler. Local search được chấm bằng chính simulator, đặc biệt trên các realization lấy mẫu, cho kết quả tốt hơn FixedTour (0.410).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24ef22aa1ac_0_1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5" name="Google Shape;2215;g24ef22aa1ac_0_1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Tóm tắt đóng góp và hạn chế.</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g24ef22aa1ac_0_1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4" name="Google Shape;2224;g24ef22aa1ac_0_1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Khởi tạo từ plan FixedTour với mọi weight bằng 1. Mỗi round chạy ba block; SBS-R thêm bước repair. Bandwidth thực tế chia theo weight giữa các link đang có dữ liệu, nên plan không dùng thông tin tương lai.</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g24ef22aa1ac_0_1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9" name="Google Shape;2299;g24ef22aa1ac_0_1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SBS và SBS-R tốt nhất ở cả hai family. SBS-R gần như bằng SBS: repair không thêm gain. SBS-Lex dùng cùng search nhưng objective kiểu max-min, thấp hơn cả FixedTour.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9" name="Google Shape;2409;g24ef22aa1ac_0_17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Cảm ơn và mời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hyperlink" Target="https://bit.ly/3A1uf1Q" TargetMode="External"/><Relationship Id="rId4" Type="http://schemas.openxmlformats.org/officeDocument/2006/relationships/hyperlink" Target="http://bit.ly/2TtBDfr" TargetMode="Externa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 name="Google Shape;12;p2"/>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2700000">
              <a:off x="917817" y="-2200499"/>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201475" y="-361175"/>
              <a:ext cx="7138625" cy="819350"/>
            </a:xfrm>
            <a:custGeom>
              <a:rect b="b" l="l" r="r" t="t"/>
              <a:pathLst>
                <a:path extrusionOk="0" h="32774" w="285545">
                  <a:moveTo>
                    <a:pt x="0" y="32774"/>
                  </a:moveTo>
                  <a:lnTo>
                    <a:pt x="188861" y="32774"/>
                  </a:lnTo>
                  <a:lnTo>
                    <a:pt x="221636" y="0"/>
                  </a:lnTo>
                  <a:lnTo>
                    <a:pt x="285545" y="0"/>
                  </a:lnTo>
                </a:path>
              </a:pathLst>
            </a:custGeom>
            <a:noFill/>
            <a:ln cap="flat" cmpd="sng" w="9525">
              <a:solidFill>
                <a:schemeClr val="dk2"/>
              </a:solidFill>
              <a:prstDash val="solid"/>
              <a:round/>
              <a:headEnd len="med" w="med" type="none"/>
              <a:tailEnd len="med" w="med" type="none"/>
            </a:ln>
          </p:spPr>
        </p:sp>
        <p:sp>
          <p:nvSpPr>
            <p:cNvPr id="16" name="Google Shape;16;p2"/>
            <p:cNvSpPr/>
            <p:nvPr/>
          </p:nvSpPr>
          <p:spPr>
            <a:xfrm rot="5400000">
              <a:off x="1110859" y="-1245788"/>
              <a:ext cx="577450" cy="3045475"/>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rot="5400000">
              <a:off x="654013" y="-781254"/>
              <a:ext cx="687411" cy="2731351"/>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alphaModFix/>
            </a:blip>
            <a:srcRect b="26177" l="16960" r="7121" t="24719"/>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rot="10800000">
              <a:off x="7694795" y="2941747"/>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2"/>
            <p:cNvSpPr/>
            <p:nvPr/>
          </p:nvSpPr>
          <p:spPr>
            <a:xfrm>
              <a:off x="8430775" y="2842975"/>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4" name="Google Shape;54;p2"/>
          <p:cNvSpPr txBox="1"/>
          <p:nvPr>
            <p:ph type="ctrTitle"/>
          </p:nvPr>
        </p:nvSpPr>
        <p:spPr>
          <a:xfrm>
            <a:off x="1096850" y="816324"/>
            <a:ext cx="6974700" cy="23265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idx="1" type="subTitle"/>
          </p:nvPr>
        </p:nvSpPr>
        <p:spPr>
          <a:xfrm>
            <a:off x="1096850" y="3456250"/>
            <a:ext cx="4882500" cy="4758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9" name="Google Shape;69;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4" name="Google Shape;84;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4" name="Google Shape;94;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hasCustomPrompt="1" idx="2" type="title"/>
          </p:nvPr>
        </p:nvSpPr>
        <p:spPr>
          <a:xfrm>
            <a:off x="720000" y="1025725"/>
            <a:ext cx="1702500" cy="9936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8" name="Google Shape;98;p3"/>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3"/>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3"/>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15" name="Google Shape;11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5" name="Google Shape;12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5" name="Google Shape;13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idx="1" type="body"/>
          </p:nvPr>
        </p:nvSpPr>
        <p:spPr>
          <a:xfrm>
            <a:off x="720000" y="1139551"/>
            <a:ext cx="7704000" cy="4113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Clr>
                <a:srgbClr val="434343"/>
              </a:buClr>
              <a:buSzPts val="1400"/>
              <a:buAutoNum type="arabicPeriod"/>
              <a:defRPr>
                <a:solidFill>
                  <a:srgbClr val="191919"/>
                </a:solidFill>
              </a:defRPr>
            </a:lvl1pPr>
            <a:lvl2pPr indent="-317500" lvl="1" marL="9144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indent="-317500" lvl="2" marL="13716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indent="-317500" lvl="3" marL="18288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indent="-317500" lvl="4" marL="22860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indent="-317500" lvl="5" marL="27432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indent="-317500" lvl="6" marL="32004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indent="-317500" lvl="7" marL="36576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indent="-317500" lvl="8" marL="41148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alphaModFix/>
            </a:blip>
            <a:srcRect b="26177" l="16960" r="7121" t="24719"/>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rot="10800000">
                <a:off x="7785196" y="3421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8" name="Google Shape;148;p4"/>
            <p:cNvSpPr/>
            <p:nvPr/>
          </p:nvSpPr>
          <p:spPr>
            <a:xfrm rot="5400000">
              <a:off x="8098189" y="-87718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4"/>
            <p:cNvSpPr/>
            <p:nvPr/>
          </p:nvSpPr>
          <p:spPr>
            <a:xfrm rot="10800000">
              <a:off x="-132364" y="1829399"/>
              <a:ext cx="396852" cy="2260214"/>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4"/>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8" name="Google Shape;168;p4"/>
            <p:cNvSpPr/>
            <p:nvPr/>
          </p:nvSpPr>
          <p:spPr>
            <a:xfrm>
              <a:off x="152767" y="-57254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4"/>
            <p:cNvSpPr/>
            <p:nvPr/>
          </p:nvSpPr>
          <p:spPr>
            <a:xfrm>
              <a:off x="-6579" y="-57316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4"/>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idx="1" type="subTitle"/>
          </p:nvPr>
        </p:nvSpPr>
        <p:spPr>
          <a:xfrm>
            <a:off x="4999903" y="2372500"/>
            <a:ext cx="2340300" cy="1320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77" name="Google Shape;177;p5"/>
          <p:cNvSpPr txBox="1"/>
          <p:nvPr>
            <p:ph idx="2" type="subTitle"/>
          </p:nvPr>
        </p:nvSpPr>
        <p:spPr>
          <a:xfrm>
            <a:off x="1803800" y="2372500"/>
            <a:ext cx="2340300" cy="1320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78" name="Google Shape;178;p5"/>
          <p:cNvSpPr txBox="1"/>
          <p:nvPr>
            <p:ph idx="3" type="subTitle"/>
          </p:nvPr>
        </p:nvSpPr>
        <p:spPr>
          <a:xfrm>
            <a:off x="4999908" y="2048488"/>
            <a:ext cx="23403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79" name="Google Shape;179;p5"/>
          <p:cNvSpPr txBox="1"/>
          <p:nvPr>
            <p:ph idx="4" type="subTitle"/>
          </p:nvPr>
        </p:nvSpPr>
        <p:spPr>
          <a:xfrm>
            <a:off x="1803800" y="2048488"/>
            <a:ext cx="23403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b="26177" l="16960" r="7121" t="24719"/>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5"/>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5"/>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05" name="Google Shape;205;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5"/>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5"/>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20" name="Google Shape;220;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30" name="Google Shape;230;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8" name="Google Shape;238;p5"/>
            <p:cNvSpPr/>
            <p:nvPr/>
          </p:nvSpPr>
          <p:spPr>
            <a:xfrm rot="-5400000">
              <a:off x="1755111" y="-89601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1" name="Google Shape;241;p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42" name="Google Shape;242;p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9" name="Google Shape;249;p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50" name="Google Shape;250;p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54" name="Google Shape;254;p6"/>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6"/>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69" name="Google Shape;269;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6"/>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6"/>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84" name="Google Shape;284;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94" name="Google Shape;294;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08" name="Google Shape;308;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6"/>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23" name="Google Shape;323;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33" name="Google Shape;333;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36" name="Google Shape;336;p6"/>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337" name="Google Shape;337;p6"/>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idx="1" type="subTitle"/>
          </p:nvPr>
        </p:nvSpPr>
        <p:spPr>
          <a:xfrm>
            <a:off x="713225" y="1160775"/>
            <a:ext cx="7710900" cy="3455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7"/>
            <p:cNvSpPr/>
            <p:nvPr/>
          </p:nvSpPr>
          <p:spPr>
            <a:xfrm rot="-2700000">
              <a:off x="6782013" y="-2600033"/>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49" name="Google Shape;349;p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350" name="Google Shape;350;p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alphaModFix/>
            </a:blip>
            <a:srcRect b="26177" l="16960" r="7121" t="24719"/>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7"/>
            <p:cNvSpPr/>
            <p:nvPr/>
          </p:nvSpPr>
          <p:spPr>
            <a:xfrm>
              <a:off x="941424" y="47243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p:nvPr/>
          </p:nvSpPr>
          <p:spPr>
            <a:xfrm>
              <a:off x="820562" y="49581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7"/>
            <p:cNvSpPr/>
            <p:nvPr/>
          </p:nvSpPr>
          <p:spPr>
            <a:xfrm>
              <a:off x="1299000" y="4608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7"/>
            <p:cNvSpPr/>
            <p:nvPr/>
          </p:nvSpPr>
          <p:spPr>
            <a:xfrm rot="5400000">
              <a:off x="447539" y="31337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8"/>
              <p:cNvSpPr/>
              <p:nvPr/>
            </p:nvSpPr>
            <p:spPr>
              <a:xfrm rot="5400000">
                <a:off x="391825" y="3465468"/>
                <a:ext cx="687411" cy="1771028"/>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0" name="Google Shape;370;p8"/>
            <p:cNvSpPr/>
            <p:nvPr/>
          </p:nvSpPr>
          <p:spPr>
            <a:xfrm rot="5400000">
              <a:off x="7783092" y="-77047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8"/>
            <p:cNvSpPr/>
            <p:nvPr/>
          </p:nvSpPr>
          <p:spPr>
            <a:xfrm rot="5400000">
              <a:off x="7617537" y="-361157"/>
              <a:ext cx="687411" cy="1771028"/>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idx="1" type="subTitle"/>
          </p:nvPr>
        </p:nvSpPr>
        <p:spPr>
          <a:xfrm>
            <a:off x="720000" y="2359400"/>
            <a:ext cx="3145200" cy="2249400"/>
          </a:xfrm>
          <a:prstGeom prst="rect">
            <a:avLst/>
          </a:prstGeom>
        </p:spPr>
        <p:txBody>
          <a:bodyPr anchorCtr="0" anchor="t" bIns="91425" lIns="91425" spcFirstLastPara="1" rIns="91425" wrap="square" tIns="91425">
            <a:noAutofit/>
          </a:bodyPr>
          <a:lstStyle>
            <a:lvl1pPr lvl="0" rtl="0">
              <a:spcBef>
                <a:spcPts val="0"/>
              </a:spcBef>
              <a:spcAft>
                <a:spcPts val="0"/>
              </a:spcAft>
              <a:buSzPts val="800"/>
              <a:buFont typeface="Open Sans"/>
              <a:buChar char="●"/>
              <a:defRPr/>
            </a:lvl1pPr>
            <a:lvl2pPr lvl="1" rtl="0" algn="ctr">
              <a:lnSpc>
                <a:spcPct val="100000"/>
              </a:lnSpc>
              <a:spcBef>
                <a:spcPts val="0"/>
              </a:spcBef>
              <a:spcAft>
                <a:spcPts val="0"/>
              </a:spcAft>
              <a:buSzPts val="800"/>
              <a:buFont typeface="Open Sans"/>
              <a:buChar char="○"/>
              <a:defRPr/>
            </a:lvl2pPr>
            <a:lvl3pPr lvl="2" rtl="0" algn="ctr">
              <a:lnSpc>
                <a:spcPct val="100000"/>
              </a:lnSpc>
              <a:spcBef>
                <a:spcPts val="0"/>
              </a:spcBef>
              <a:spcAft>
                <a:spcPts val="0"/>
              </a:spcAft>
              <a:buSzPts val="800"/>
              <a:buFont typeface="Open Sans"/>
              <a:buChar char="■"/>
              <a:defRPr/>
            </a:lvl3pPr>
            <a:lvl4pPr lvl="3" rtl="0" algn="ctr">
              <a:lnSpc>
                <a:spcPct val="100000"/>
              </a:lnSpc>
              <a:spcBef>
                <a:spcPts val="0"/>
              </a:spcBef>
              <a:spcAft>
                <a:spcPts val="0"/>
              </a:spcAft>
              <a:buSzPts val="800"/>
              <a:buFont typeface="Open Sans"/>
              <a:buChar char="●"/>
              <a:defRPr/>
            </a:lvl4pPr>
            <a:lvl5pPr lvl="4" rtl="0" algn="ctr">
              <a:lnSpc>
                <a:spcPct val="100000"/>
              </a:lnSpc>
              <a:spcBef>
                <a:spcPts val="0"/>
              </a:spcBef>
              <a:spcAft>
                <a:spcPts val="0"/>
              </a:spcAft>
              <a:buSzPts val="1200"/>
              <a:buFont typeface="Open Sans"/>
              <a:buChar char="○"/>
              <a:defRPr/>
            </a:lvl5pPr>
            <a:lvl6pPr lvl="5" rtl="0" algn="ctr">
              <a:lnSpc>
                <a:spcPct val="100000"/>
              </a:lnSpc>
              <a:spcBef>
                <a:spcPts val="0"/>
              </a:spcBef>
              <a:spcAft>
                <a:spcPts val="0"/>
              </a:spcAft>
              <a:buSzPts val="1200"/>
              <a:buFont typeface="Open Sans"/>
              <a:buChar char="■"/>
              <a:defRPr/>
            </a:lvl6pPr>
            <a:lvl7pPr lvl="6" rtl="0" algn="ctr">
              <a:lnSpc>
                <a:spcPct val="100000"/>
              </a:lnSpc>
              <a:spcBef>
                <a:spcPts val="0"/>
              </a:spcBef>
              <a:spcAft>
                <a:spcPts val="0"/>
              </a:spcAft>
              <a:buSzPts val="700"/>
              <a:buFont typeface="Open Sans"/>
              <a:buChar char="●"/>
              <a:defRPr/>
            </a:lvl7pPr>
            <a:lvl8pPr lvl="7" rtl="0" algn="ctr">
              <a:lnSpc>
                <a:spcPct val="100000"/>
              </a:lnSpc>
              <a:spcBef>
                <a:spcPts val="0"/>
              </a:spcBef>
              <a:spcAft>
                <a:spcPts val="0"/>
              </a:spcAft>
              <a:buSzPts val="700"/>
              <a:buFont typeface="Open Sans"/>
              <a:buChar char="○"/>
              <a:defRPr/>
            </a:lvl8pPr>
            <a:lvl9pPr lvl="8" rtl="0" algn="ctr">
              <a:lnSpc>
                <a:spcPct val="100000"/>
              </a:lnSpc>
              <a:spcBef>
                <a:spcPts val="0"/>
              </a:spcBef>
              <a:spcAft>
                <a:spcPts val="0"/>
              </a:spcAft>
              <a:buSzPts val="600"/>
              <a:buFont typeface="Open Sans"/>
              <a:buChar char="■"/>
              <a:defRPr/>
            </a:lvl9pPr>
          </a:lstStyle>
          <a:p/>
        </p:txBody>
      </p:sp>
      <p:sp>
        <p:nvSpPr>
          <p:cNvPr id="378" name="Google Shape;378;p9"/>
          <p:cNvSpPr/>
          <p:nvPr>
            <p:ph idx="2" type="pic"/>
          </p:nvPr>
        </p:nvSpPr>
        <p:spPr>
          <a:xfrm>
            <a:off x="4135800" y="539500"/>
            <a:ext cx="4295100" cy="4069200"/>
          </a:xfrm>
          <a:prstGeom prst="snip1Rect">
            <a:avLst>
              <a:gd fmla="val 16667" name="adj"/>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b="26177" l="16960" r="7121" t="24719"/>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9"/>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9"/>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8" name="Google Shape;398;p9"/>
            <p:cNvSpPr/>
            <p:nvPr/>
          </p:nvSpPr>
          <p:spPr>
            <a:xfrm rot="5400000">
              <a:off x="501466" y="-1277128"/>
              <a:ext cx="1031181" cy="275218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9"/>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9"/>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9"/>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9"/>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9"/>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9"/>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9" name="Google Shape;409;p9"/>
            <p:cNvPicPr preferRelativeResize="0"/>
            <p:nvPr/>
          </p:nvPicPr>
          <p:blipFill rotWithShape="1">
            <a:blip r:embed="rId2">
              <a:alphaModFix/>
            </a:blip>
            <a:srcRect b="26177" l="16960" r="7121" t="24719"/>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9"/>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9"/>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9"/>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9"/>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8" name="Google Shape;418;p9"/>
            <p:cNvSpPr/>
            <p:nvPr/>
          </p:nvSpPr>
          <p:spPr>
            <a:xfrm rot="10800000">
              <a:off x="7869624" y="292026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9"/>
            <p:cNvSpPr/>
            <p:nvPr/>
          </p:nvSpPr>
          <p:spPr>
            <a:xfrm rot="10800000">
              <a:off x="8028970" y="292088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2" name="Google Shape;422;p9"/>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423" name="Google Shape;423;p9"/>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24" name="Shape 424"/>
        <p:cNvGrpSpPr/>
        <p:nvPr/>
      </p:nvGrpSpPr>
      <p:grpSpPr>
        <a:xfrm>
          <a:off x="0" y="0"/>
          <a:ext cx="0" cy="0"/>
          <a:chOff x="0" y="0"/>
          <a:chExt cx="0" cy="0"/>
        </a:xfrm>
      </p:grpSpPr>
      <p:sp>
        <p:nvSpPr>
          <p:cNvPr id="425" name="Google Shape;425;p10"/>
          <p:cNvSpPr/>
          <p:nvPr>
            <p:ph idx="2" type="pic"/>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anchorCtr="0" anchor="t" bIns="91425" lIns="91425" spcFirstLastPara="1" rIns="91425" wrap="square" tIns="91425">
            <a:noAutofit/>
          </a:bodyPr>
          <a:lstStyle>
            <a:lvl1pPr lvl="0" rtl="0" algn="ctr">
              <a:spcBef>
                <a:spcPts val="0"/>
              </a:spcBef>
              <a:spcAft>
                <a:spcPts val="0"/>
              </a:spcAft>
              <a:buSzPts val="3000"/>
              <a:buNone/>
              <a:defRPr sz="25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27" name="Shape 427"/>
        <p:cNvGrpSpPr/>
        <p:nvPr/>
      </p:nvGrpSpPr>
      <p:grpSpPr>
        <a:xfrm>
          <a:off x="0" y="0"/>
          <a:ext cx="0" cy="0"/>
          <a:chOff x="0" y="0"/>
          <a:chExt cx="0" cy="0"/>
        </a:xfrm>
      </p:grpSpPr>
      <p:sp>
        <p:nvSpPr>
          <p:cNvPr id="428" name="Google Shape;428;p11"/>
          <p:cNvSpPr txBox="1"/>
          <p:nvPr>
            <p:ph hasCustomPrompt="1" type="title"/>
          </p:nvPr>
        </p:nvSpPr>
        <p:spPr>
          <a:xfrm>
            <a:off x="713225" y="1766475"/>
            <a:ext cx="6576000" cy="1036200"/>
          </a:xfrm>
          <a:prstGeom prst="rect">
            <a:avLst/>
          </a:prstGeom>
        </p:spPr>
        <p:txBody>
          <a:bodyPr anchorCtr="0" anchor="b" bIns="91425" lIns="91425" spcFirstLastPara="1" rIns="91425" wrap="square" tIns="91425">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idx="1" type="subTitle"/>
          </p:nvPr>
        </p:nvSpPr>
        <p:spPr>
          <a:xfrm>
            <a:off x="713225" y="3118375"/>
            <a:ext cx="6576000" cy="49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1"/>
              <p:cNvSpPr/>
              <p:nvPr/>
            </p:nvSpPr>
            <p:spPr>
              <a:xfrm rot="-5400000">
                <a:off x="891329" y="3148090"/>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1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62" name="Google Shape;462;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0" name="Google Shape;470;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8" name="Google Shape;478;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6" name="Google Shape;486;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9" name="Google Shape;489;p11"/>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1"/>
              <p:cNvSpPr/>
              <p:nvPr/>
            </p:nvSpPr>
            <p:spPr>
              <a:xfrm rot="-8100000">
                <a:off x="83608" y="-617740"/>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496" name="Google Shape;496;p13"/>
          <p:cNvSpPr txBox="1"/>
          <p:nvPr>
            <p:ph idx="1" type="subTitle"/>
          </p:nvPr>
        </p:nvSpPr>
        <p:spPr>
          <a:xfrm>
            <a:off x="720000" y="2244725"/>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7" name="Google Shape;497;p13"/>
          <p:cNvSpPr txBox="1"/>
          <p:nvPr>
            <p:ph idx="2" type="subTitle"/>
          </p:nvPr>
        </p:nvSpPr>
        <p:spPr>
          <a:xfrm>
            <a:off x="4366700" y="2244725"/>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8" name="Google Shape;498;p13"/>
          <p:cNvSpPr txBox="1"/>
          <p:nvPr>
            <p:ph idx="3" type="subTitle"/>
          </p:nvPr>
        </p:nvSpPr>
        <p:spPr>
          <a:xfrm>
            <a:off x="720000" y="3940900"/>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9" name="Google Shape;499;p13"/>
          <p:cNvSpPr txBox="1"/>
          <p:nvPr>
            <p:ph idx="4" type="subTitle"/>
          </p:nvPr>
        </p:nvSpPr>
        <p:spPr>
          <a:xfrm>
            <a:off x="4366700" y="3940900"/>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500" name="Google Shape;500;p13"/>
          <p:cNvSpPr txBox="1"/>
          <p:nvPr>
            <p:ph hasCustomPrompt="1" idx="5" type="title"/>
          </p:nvPr>
        </p:nvSpPr>
        <p:spPr>
          <a:xfrm>
            <a:off x="720003" y="1344775"/>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p:nvPr>
            <p:ph hasCustomPrompt="1" idx="6" type="title"/>
          </p:nvPr>
        </p:nvSpPr>
        <p:spPr>
          <a:xfrm>
            <a:off x="720003" y="3040971"/>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p:nvPr>
            <p:ph hasCustomPrompt="1" idx="7" type="title"/>
          </p:nvPr>
        </p:nvSpPr>
        <p:spPr>
          <a:xfrm>
            <a:off x="4366698" y="1344775"/>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p:nvPr>
            <p:ph hasCustomPrompt="1" idx="8" type="title"/>
          </p:nvPr>
        </p:nvSpPr>
        <p:spPr>
          <a:xfrm>
            <a:off x="4366698" y="3040971"/>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4" name="Google Shape;504;p13"/>
          <p:cNvSpPr txBox="1"/>
          <p:nvPr>
            <p:ph idx="9" type="subTitle"/>
          </p:nvPr>
        </p:nvSpPr>
        <p:spPr>
          <a:xfrm>
            <a:off x="720000" y="1918675"/>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Source Code Pr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2pPr>
            <a:lvl3pPr lvl="2"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3pPr>
            <a:lvl4pPr lvl="3"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4pPr>
            <a:lvl5pPr lvl="4"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5pPr>
            <a:lvl6pPr lvl="5"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6pPr>
            <a:lvl7pPr lvl="6"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7pPr>
            <a:lvl8pPr lvl="7"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8pPr>
            <a:lvl9pPr lvl="8"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9pPr>
          </a:lstStyle>
          <a:p/>
        </p:txBody>
      </p:sp>
      <p:sp>
        <p:nvSpPr>
          <p:cNvPr id="505" name="Google Shape;505;p13"/>
          <p:cNvSpPr txBox="1"/>
          <p:nvPr>
            <p:ph idx="13" type="subTitle"/>
          </p:nvPr>
        </p:nvSpPr>
        <p:spPr>
          <a:xfrm>
            <a:off x="4366698" y="1918675"/>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Source Code Pr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2pPr>
            <a:lvl3pPr lvl="2"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3pPr>
            <a:lvl4pPr lvl="3"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4pPr>
            <a:lvl5pPr lvl="4"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5pPr>
            <a:lvl6pPr lvl="5"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6pPr>
            <a:lvl7pPr lvl="6"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7pPr>
            <a:lvl8pPr lvl="7"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8pPr>
            <a:lvl9pPr lvl="8"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9pPr>
          </a:lstStyle>
          <a:p/>
        </p:txBody>
      </p:sp>
      <p:sp>
        <p:nvSpPr>
          <p:cNvPr id="506" name="Google Shape;506;p13"/>
          <p:cNvSpPr txBox="1"/>
          <p:nvPr>
            <p:ph idx="14" type="subTitle"/>
          </p:nvPr>
        </p:nvSpPr>
        <p:spPr>
          <a:xfrm>
            <a:off x="720000" y="3614801"/>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507" name="Google Shape;507;p13"/>
          <p:cNvSpPr txBox="1"/>
          <p:nvPr>
            <p:ph idx="15" type="subTitle"/>
          </p:nvPr>
        </p:nvSpPr>
        <p:spPr>
          <a:xfrm>
            <a:off x="4366698" y="3614801"/>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3"/>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3"/>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3"/>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3"/>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3"/>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3"/>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flipH="1" rot="-2700000">
              <a:off x="7289785" y="-1246897"/>
              <a:ext cx="2552124" cy="3347490"/>
              <a:chOff x="2976325" y="908175"/>
              <a:chExt cx="4028179" cy="5283555"/>
            </a:xfrm>
          </p:grpSpPr>
          <p:sp>
            <p:nvSpPr>
              <p:cNvPr id="535" name="Google Shape;535;p1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8" name="Google Shape;538;p13"/>
            <p:cNvSpPr/>
            <p:nvPr/>
          </p:nvSpPr>
          <p:spPr>
            <a:xfrm>
              <a:off x="6394675" y="0"/>
              <a:ext cx="284119" cy="246048"/>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3"/>
            <p:cNvSpPr/>
            <p:nvPr/>
          </p:nvSpPr>
          <p:spPr>
            <a:xfrm>
              <a:off x="6627600" y="-49075"/>
              <a:ext cx="570546" cy="494095"/>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42" name="Google Shape;542;p13"/>
            <p:cNvCxnSpPr/>
            <p:nvPr/>
          </p:nvCxnSpPr>
          <p:spPr>
            <a:xfrm rot="10800000">
              <a:off x="783712" y="-601348"/>
              <a:ext cx="0" cy="1795200"/>
            </a:xfrm>
            <a:prstGeom prst="straightConnector1">
              <a:avLst/>
            </a:prstGeom>
            <a:noFill/>
            <a:ln cap="flat" cmpd="sng" w="9525">
              <a:solidFill>
                <a:schemeClr val="dk2"/>
              </a:solidFill>
              <a:prstDash val="solid"/>
              <a:round/>
              <a:headEnd len="med" w="med" type="none"/>
              <a:tailEnd len="med" w="med" type="none"/>
            </a:ln>
          </p:spPr>
        </p:cxnSp>
        <p:sp>
          <p:nvSpPr>
            <p:cNvPr id="543" name="Google Shape;543;p13"/>
            <p:cNvSpPr/>
            <p:nvPr/>
          </p:nvSpPr>
          <p:spPr>
            <a:xfrm>
              <a:off x="1673517" y="2593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anchorCtr="0" anchor="ctr" bIns="91425" lIns="91425" spcFirstLastPara="1" rIns="91425" wrap="square" tIns="91425">
            <a:noAutofit/>
          </a:bodyPr>
          <a:lstStyle>
            <a:lvl1pPr lvl="0" rtl="0">
              <a:lnSpc>
                <a:spcPct val="115000"/>
              </a:lnSpc>
              <a:spcBef>
                <a:spcPts val="0"/>
              </a:spcBef>
              <a:spcAft>
                <a:spcPts val="0"/>
              </a:spcAft>
              <a:buSzPts val="3000"/>
              <a:buNone/>
              <a:defRPr/>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546" name="Google Shape;546;p14"/>
          <p:cNvSpPr txBox="1"/>
          <p:nvPr>
            <p:ph idx="1" type="subTitle"/>
          </p:nvPr>
        </p:nvSpPr>
        <p:spPr>
          <a:xfrm>
            <a:off x="713225" y="1511313"/>
            <a:ext cx="6691200" cy="14784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800"/>
            </a:lvl1pPr>
            <a:lvl2pPr lvl="1" rtl="0" algn="ctr">
              <a:lnSpc>
                <a:spcPct val="100000"/>
              </a:lnSpc>
              <a:spcBef>
                <a:spcPts val="0"/>
              </a:spcBef>
              <a:spcAft>
                <a:spcPts val="0"/>
              </a:spcAft>
              <a:buSzPts val="3000"/>
              <a:buNone/>
              <a:defRPr sz="3000"/>
            </a:lvl2pPr>
            <a:lvl3pPr lvl="2" rtl="0" algn="ctr">
              <a:lnSpc>
                <a:spcPct val="100000"/>
              </a:lnSpc>
              <a:spcBef>
                <a:spcPts val="0"/>
              </a:spcBef>
              <a:spcAft>
                <a:spcPts val="0"/>
              </a:spcAft>
              <a:buSzPts val="3000"/>
              <a:buNone/>
              <a:defRPr sz="3000"/>
            </a:lvl3pPr>
            <a:lvl4pPr lvl="3" rtl="0" algn="ctr">
              <a:lnSpc>
                <a:spcPct val="100000"/>
              </a:lnSpc>
              <a:spcBef>
                <a:spcPts val="0"/>
              </a:spcBef>
              <a:spcAft>
                <a:spcPts val="0"/>
              </a:spcAft>
              <a:buSzPts val="3000"/>
              <a:buNone/>
              <a:defRPr sz="3000"/>
            </a:lvl4pPr>
            <a:lvl5pPr lvl="4" rtl="0" algn="ctr">
              <a:lnSpc>
                <a:spcPct val="100000"/>
              </a:lnSpc>
              <a:spcBef>
                <a:spcPts val="0"/>
              </a:spcBef>
              <a:spcAft>
                <a:spcPts val="0"/>
              </a:spcAft>
              <a:buSzPts val="3000"/>
              <a:buNone/>
              <a:defRPr sz="3000"/>
            </a:lvl5pPr>
            <a:lvl6pPr lvl="5" rtl="0" algn="ctr">
              <a:lnSpc>
                <a:spcPct val="100000"/>
              </a:lnSpc>
              <a:spcBef>
                <a:spcPts val="0"/>
              </a:spcBef>
              <a:spcAft>
                <a:spcPts val="0"/>
              </a:spcAft>
              <a:buSzPts val="3000"/>
              <a:buNone/>
              <a:defRPr sz="3000"/>
            </a:lvl6pPr>
            <a:lvl7pPr lvl="6" rtl="0" algn="ctr">
              <a:lnSpc>
                <a:spcPct val="100000"/>
              </a:lnSpc>
              <a:spcBef>
                <a:spcPts val="0"/>
              </a:spcBef>
              <a:spcAft>
                <a:spcPts val="0"/>
              </a:spcAft>
              <a:buSzPts val="3000"/>
              <a:buNone/>
              <a:defRPr sz="3000"/>
            </a:lvl7pPr>
            <a:lvl8pPr lvl="7" rtl="0" algn="ctr">
              <a:lnSpc>
                <a:spcPct val="100000"/>
              </a:lnSpc>
              <a:spcBef>
                <a:spcPts val="0"/>
              </a:spcBef>
              <a:spcAft>
                <a:spcPts val="0"/>
              </a:spcAft>
              <a:buSzPts val="3000"/>
              <a:buNone/>
              <a:defRPr sz="3000"/>
            </a:lvl8pPr>
            <a:lvl9pPr lvl="8" rtl="0" algn="ctr">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flipH="1" rot="8100000">
              <a:off x="3778999" y="-2106462"/>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0" name="Google Shape;570;p15"/>
            <p:cNvSpPr/>
            <p:nvPr/>
          </p:nvSpPr>
          <p:spPr>
            <a:xfrm rot="5400000">
              <a:off x="8142048" y="-57566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5"/>
            <p:cNvSpPr/>
            <p:nvPr/>
          </p:nvSpPr>
          <p:spPr>
            <a:xfrm rot="10800000">
              <a:off x="8365398" y="-290023"/>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5"/>
            <p:cNvSpPr/>
            <p:nvPr/>
          </p:nvSpPr>
          <p:spPr>
            <a:xfrm rot="10800000">
              <a:off x="8490148" y="2"/>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5"/>
            <p:cNvSpPr/>
            <p:nvPr/>
          </p:nvSpPr>
          <p:spPr>
            <a:xfrm flipH="1" rot="-2700000">
              <a:off x="3192849" y="-2898537"/>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flipH="1" rot="10800000">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83" name="Google Shape;583;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1" name="Google Shape;591;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9" name="Google Shape;599;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7" name="Google Shape;607;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08" name="Google Shape;608;p15"/>
            <p:cNvGrpSpPr/>
            <p:nvPr/>
          </p:nvGrpSpPr>
          <p:grpSpPr>
            <a:xfrm flipH="1" rot="-3320950">
              <a:off x="-1885521" y="3185658"/>
              <a:ext cx="4889863" cy="3931229"/>
              <a:chOff x="7103825" y="-713112"/>
              <a:chExt cx="3785226" cy="3043150"/>
            </a:xfrm>
          </p:grpSpPr>
          <p:sp>
            <p:nvSpPr>
              <p:cNvPr id="609" name="Google Shape;609;p15"/>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10" name="Google Shape;610;p15"/>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611" name="Google Shape;611;p15"/>
            <p:cNvSpPr/>
            <p:nvPr/>
          </p:nvSpPr>
          <p:spPr>
            <a:xfrm flipH="1" rot="-2700000">
              <a:off x="249333" y="3270782"/>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5"/>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6"/>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6"/>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27" name="Google Shape;627;p16"/>
            <p:cNvSpPr/>
            <p:nvPr/>
          </p:nvSpPr>
          <p:spPr>
            <a:xfrm rot="2700000">
              <a:off x="8482428" y="-422541"/>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6"/>
            <p:cNvSpPr/>
            <p:nvPr/>
          </p:nvSpPr>
          <p:spPr>
            <a:xfrm rot="2700000">
              <a:off x="8744103" y="-213191"/>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b="26177" l="16960" r="7121" t="24719"/>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alphaModFix/>
            </a:blip>
            <a:srcRect b="26177" l="16960" r="7121" t="24719"/>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69" name="Google Shape;669;p16"/>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670" name="Google Shape;670;p16"/>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1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1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92" name="Google Shape;692;p17"/>
              <p:cNvSpPr/>
              <p:nvPr/>
            </p:nvSpPr>
            <p:spPr>
              <a:xfrm flipH="1" rot="2700000">
                <a:off x="-1073899" y="473691"/>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b="26177" l="16960" r="7121" t="24719"/>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7"/>
                <p:cNvSpPr/>
                <p:nvPr/>
              </p:nvSpPr>
              <p:spPr>
                <a:xfrm rot="10800000">
                  <a:off x="-575573" y="3820175"/>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05" name="Google Shape;705;p17"/>
              <p:cNvSpPr/>
              <p:nvPr/>
            </p:nvSpPr>
            <p:spPr>
              <a:xfrm>
                <a:off x="0" y="36165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7"/>
              <p:cNvSpPr/>
              <p:nvPr/>
            </p:nvSpPr>
            <p:spPr>
              <a:xfrm>
                <a:off x="131225" y="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7" name="Google Shape;707;p17"/>
              <p:cNvGrpSpPr/>
              <p:nvPr/>
            </p:nvGrpSpPr>
            <p:grpSpPr>
              <a:xfrm flipH="1" rot="-2700000">
                <a:off x="-216370" y="1084101"/>
                <a:ext cx="708093" cy="708493"/>
                <a:chOff x="3678700" y="407275"/>
                <a:chExt cx="708100" cy="708500"/>
              </a:xfrm>
            </p:grpSpPr>
            <p:sp>
              <p:nvSpPr>
                <p:cNvPr id="708" name="Google Shape;708;p1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1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1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1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1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17" name="Google Shape;717;p1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718" name="Google Shape;718;p1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1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
        <p:nvSpPr>
          <p:cNvPr id="729" name="Google Shape;729;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alphaModFix/>
            </a:blip>
            <a:srcRect b="26177" l="16960" r="7121" t="24719"/>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8"/>
            <p:cNvSpPr/>
            <p:nvPr/>
          </p:nvSpPr>
          <p:spPr>
            <a:xfrm rot="10800000">
              <a:off x="-207237" y="2599870"/>
              <a:ext cx="1201697" cy="2824744"/>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8"/>
              <p:cNvSpPr/>
              <p:nvPr/>
            </p:nvSpPr>
            <p:spPr>
              <a:xfrm flipH="1">
                <a:off x="8668555" y="19768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1" name="Google Shape;751;p18"/>
            <p:cNvGrpSpPr/>
            <p:nvPr/>
          </p:nvGrpSpPr>
          <p:grpSpPr>
            <a:xfrm flipH="1" rot="10800000">
              <a:off x="7579756" y="-249669"/>
              <a:ext cx="2601921" cy="2438355"/>
              <a:chOff x="7340128" y="2866613"/>
              <a:chExt cx="2439225" cy="2438355"/>
            </a:xfrm>
          </p:grpSpPr>
          <p:sp>
            <p:nvSpPr>
              <p:cNvPr id="752" name="Google Shape;752;p18"/>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8"/>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54" name="Google Shape;754;p18"/>
            <p:cNvSpPr/>
            <p:nvPr/>
          </p:nvSpPr>
          <p:spPr>
            <a:xfrm flipH="1" rot="5400000">
              <a:off x="6551329" y="-89601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8"/>
              <p:cNvSpPr/>
              <p:nvPr/>
            </p:nvSpPr>
            <p:spPr>
              <a:xfrm flipH="1">
                <a:off x="6947845" y="276153"/>
                <a:ext cx="73844" cy="73844"/>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58" name="Google Shape;758;p18"/>
              <p:cNvCxnSpPr/>
              <p:nvPr/>
            </p:nvCxnSpPr>
            <p:spPr>
              <a:xfrm rot="10800000">
                <a:off x="7013865" y="313050"/>
                <a:ext cx="4527000" cy="0"/>
              </a:xfrm>
              <a:prstGeom prst="straightConnector1">
                <a:avLst/>
              </a:prstGeom>
              <a:noFill/>
              <a:ln cap="flat" cmpd="sng" w="9525">
                <a:solidFill>
                  <a:schemeClr val="dk2"/>
                </a:solidFill>
                <a:prstDash val="solid"/>
                <a:round/>
                <a:headEnd len="med" w="med" type="none"/>
                <a:tailEnd len="med" w="med" type="none"/>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761" name="Google Shape;761;p19"/>
          <p:cNvSpPr txBox="1"/>
          <p:nvPr>
            <p:ph idx="1" type="subTitle"/>
          </p:nvPr>
        </p:nvSpPr>
        <p:spPr>
          <a:xfrm>
            <a:off x="4881006" y="1786675"/>
            <a:ext cx="3543000" cy="1830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62" name="Google Shape;762;p19"/>
          <p:cNvSpPr txBox="1"/>
          <p:nvPr>
            <p:ph idx="2" type="subTitle"/>
          </p:nvPr>
        </p:nvSpPr>
        <p:spPr>
          <a:xfrm>
            <a:off x="720000" y="1786675"/>
            <a:ext cx="3543000" cy="1830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9"/>
            <p:cNvSpPr/>
            <p:nvPr/>
          </p:nvSpPr>
          <p:spPr>
            <a:xfrm rot="5400000">
              <a:off x="687063" y="4466709"/>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9"/>
            <p:cNvSpPr/>
            <p:nvPr/>
          </p:nvSpPr>
          <p:spPr>
            <a:xfrm>
              <a:off x="7842318" y="138572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19"/>
            <p:cNvSpPr/>
            <p:nvPr/>
          </p:nvSpPr>
          <p:spPr>
            <a:xfrm>
              <a:off x="7734200" y="2571774"/>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19"/>
            <p:cNvSpPr/>
            <p:nvPr/>
          </p:nvSpPr>
          <p:spPr>
            <a:xfrm>
              <a:off x="7758564" y="155007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19"/>
              <p:cNvSpPr/>
              <p:nvPr/>
            </p:nvSpPr>
            <p:spPr>
              <a:xfrm>
                <a:off x="4619858" y="-114577"/>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19"/>
              <p:cNvSpPr/>
              <p:nvPr/>
            </p:nvSpPr>
            <p:spPr>
              <a:xfrm>
                <a:off x="5052808" y="-154439"/>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776" name="Google Shape;776;p19"/>
            <p:cNvPicPr preferRelativeResize="0"/>
            <p:nvPr/>
          </p:nvPicPr>
          <p:blipFill rotWithShape="1">
            <a:blip r:embed="rId2">
              <a:alphaModFix/>
            </a:blip>
            <a:srcRect b="26177" l="16960" r="7121" t="24719"/>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19"/>
            <p:cNvSpPr/>
            <p:nvPr/>
          </p:nvSpPr>
          <p:spPr>
            <a:xfrm rot="-5400000">
              <a:off x="5282230" y="-899603"/>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19"/>
              <p:cNvSpPr/>
              <p:nvPr/>
            </p:nvSpPr>
            <p:spPr>
              <a:xfrm rot="5400000">
                <a:off x="687063" y="4466709"/>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19"/>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9"/>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9"/>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9"/>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9"/>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9"/>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9"/>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19"/>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19"/>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19"/>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9"/>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9"/>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idx="1" type="subTitle"/>
          </p:nvPr>
        </p:nvSpPr>
        <p:spPr>
          <a:xfrm>
            <a:off x="720000" y="2326750"/>
            <a:ext cx="2799000" cy="1125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alphaModFix/>
            </a:blip>
            <a:srcRect b="26177" l="16960" r="7121" t="24719"/>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2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2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2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22" name="Google Shape;822;p20"/>
            <p:cNvSpPr/>
            <p:nvPr/>
          </p:nvSpPr>
          <p:spPr>
            <a:xfrm>
              <a:off x="-630272" y="2499757"/>
              <a:ext cx="1031181" cy="275218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0"/>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0"/>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b="26177" l="16960" r="7121" t="24719"/>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0"/>
            <p:cNvSpPr/>
            <p:nvPr/>
          </p:nvSpPr>
          <p:spPr>
            <a:xfrm rot="10800000">
              <a:off x="8028970" y="292088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0"/>
            <p:cNvSpPr/>
            <p:nvPr/>
          </p:nvSpPr>
          <p:spPr>
            <a:xfrm>
              <a:off x="8764950" y="2822113"/>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0"/>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0"/>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0"/>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0"/>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idx="1" type="body"/>
          </p:nvPr>
        </p:nvSpPr>
        <p:spPr>
          <a:xfrm>
            <a:off x="720000" y="1139550"/>
            <a:ext cx="4528500" cy="6978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AutoNum type="arabicPeriod"/>
              <a:defRPr/>
            </a:lvl1pPr>
            <a:lvl2pPr indent="-304800" lvl="1" marL="9144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flipH="1" rot="-8100000">
              <a:off x="7249845" y="-719557"/>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1"/>
            <p:cNvSpPr/>
            <p:nvPr/>
          </p:nvSpPr>
          <p:spPr>
            <a:xfrm>
              <a:off x="8355611" y="-292048"/>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1"/>
            <p:cNvSpPr/>
            <p:nvPr/>
          </p:nvSpPr>
          <p:spPr>
            <a:xfrm>
              <a:off x="8608100" y="70376"/>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858" name="Google Shape;858;p21"/>
            <p:cNvPicPr preferRelativeResize="0"/>
            <p:nvPr/>
          </p:nvPicPr>
          <p:blipFill rotWithShape="1">
            <a:blip r:embed="rId2">
              <a:alphaModFix/>
            </a:blip>
            <a:srcRect b="26177" l="16960" r="7121" t="24719"/>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alphaModFix/>
            </a:blip>
            <a:srcRect b="26177" l="16960" r="7121" t="24719"/>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flipH="1" rot="2700000">
                <a:off x="-1733384" y="199281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1"/>
              <p:cNvSpPr/>
              <p:nvPr/>
            </p:nvSpPr>
            <p:spPr>
              <a:xfrm flipH="1" rot="2700000">
                <a:off x="-1192832" y="2500186"/>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1"/>
                <p:cNvSpPr/>
                <p:nvPr/>
              </p:nvSpPr>
              <p:spPr>
                <a:xfrm rot="10800000">
                  <a:off x="-102297" y="3780153"/>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alphaModFix/>
            </a:blip>
            <a:srcRect b="26177" l="16960" r="7121" t="24719"/>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2"/>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2"/>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2"/>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96" name="Google Shape;89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06" name="Google Shape;90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16" name="Google Shape;91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22"/>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23" name="Google Shape;923;p2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idx="1" type="body"/>
          </p:nvPr>
        </p:nvSpPr>
        <p:spPr>
          <a:xfrm>
            <a:off x="720000" y="1139550"/>
            <a:ext cx="4290900" cy="34314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Char char="●"/>
              <a:defRPr sz="1200">
                <a:solidFill>
                  <a:srgbClr val="191919"/>
                </a:solidFill>
              </a:defRPr>
            </a:lvl1pPr>
            <a:lvl2pPr indent="-304800" lvl="1" marL="914400" rtl="0">
              <a:lnSpc>
                <a:spcPct val="115000"/>
              </a:lnSpc>
              <a:spcBef>
                <a:spcPts val="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idx="2" type="body"/>
          </p:nvPr>
        </p:nvSpPr>
        <p:spPr>
          <a:xfrm>
            <a:off x="5249025" y="1139550"/>
            <a:ext cx="3174900" cy="34314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Char char="●"/>
              <a:defRPr sz="1200">
                <a:solidFill>
                  <a:srgbClr val="191919"/>
                </a:solidFill>
              </a:defRPr>
            </a:lvl1pPr>
            <a:lvl2pPr indent="-304800" lvl="1" marL="914400" rtl="0">
              <a:lnSpc>
                <a:spcPct val="115000"/>
              </a:lnSpc>
              <a:spcBef>
                <a:spcPts val="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2"/>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22"/>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22"/>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43" name="Google Shape;943;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2"/>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alphaModFix/>
            </a:blip>
            <a:srcRect b="26177" l="16960" r="7121" t="24719"/>
            <a:stretch/>
          </p:blipFill>
          <p:spPr>
            <a:xfrm flipH="1" rot="10800000">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62" name="Google Shape;962;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72" name="Google Shape;972;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idx="1" type="subTitle"/>
          </p:nvPr>
        </p:nvSpPr>
        <p:spPr>
          <a:xfrm>
            <a:off x="713225" y="2041525"/>
            <a:ext cx="5578500" cy="606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976" name="Google Shape;976;p23"/>
          <p:cNvSpPr txBox="1"/>
          <p:nvPr>
            <p:ph idx="2" type="subTitle"/>
          </p:nvPr>
        </p:nvSpPr>
        <p:spPr>
          <a:xfrm>
            <a:off x="713225" y="3366650"/>
            <a:ext cx="5578500" cy="642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977" name="Google Shape;977;p23"/>
          <p:cNvSpPr txBox="1"/>
          <p:nvPr>
            <p:ph idx="3" type="subTitle"/>
          </p:nvPr>
        </p:nvSpPr>
        <p:spPr>
          <a:xfrm>
            <a:off x="713225" y="1679400"/>
            <a:ext cx="55785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978" name="Google Shape;978;p23"/>
          <p:cNvSpPr txBox="1"/>
          <p:nvPr>
            <p:ph idx="4" type="subTitle"/>
          </p:nvPr>
        </p:nvSpPr>
        <p:spPr>
          <a:xfrm>
            <a:off x="713225" y="3040550"/>
            <a:ext cx="55785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979" name="Google Shape;979;p23"/>
          <p:cNvGrpSpPr/>
          <p:nvPr/>
        </p:nvGrpSpPr>
        <p:grpSpPr>
          <a:xfrm flipH="1" rot="-5400000">
            <a:off x="6239121" y="1032770"/>
            <a:ext cx="5022035" cy="4764449"/>
            <a:chOff x="4571996" y="2268220"/>
            <a:chExt cx="5022035" cy="4764449"/>
          </a:xfrm>
        </p:grpSpPr>
        <p:pic>
          <p:nvPicPr>
            <p:cNvPr id="980" name="Google Shape;980;p23"/>
            <p:cNvPicPr preferRelativeResize="0"/>
            <p:nvPr/>
          </p:nvPicPr>
          <p:blipFill rotWithShape="1">
            <a:blip r:embed="rId2">
              <a:alphaModFix/>
            </a:blip>
            <a:srcRect b="26177" l="16960" r="7121" t="24719"/>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3"/>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98" name="Google Shape;99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08" name="Google Shape;100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18" name="Google Shape;101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23"/>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1025" name="Google Shape;1025;p23"/>
          <p:cNvPicPr preferRelativeResize="0"/>
          <p:nvPr/>
        </p:nvPicPr>
        <p:blipFill rotWithShape="1">
          <a:blip r:embed="rId2">
            <a:alphaModFix/>
          </a:blip>
          <a:srcRect b="26177" l="16960" r="7121" t="24719"/>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28" name="Google Shape;1028;p23"/>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29" name="Google Shape;1029;p23"/>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23"/>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23"/>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3"/>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44" name="Google Shape;1044;p23"/>
            <p:cNvSpPr/>
            <p:nvPr/>
          </p:nvSpPr>
          <p:spPr>
            <a:xfrm rot="-5400000">
              <a:off x="362395"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47" name="Google Shape;1047;p23"/>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48" name="Google Shape;1048;p23"/>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53" name="Google Shape;1053;p24"/>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56" name="Google Shape;1056;p24"/>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57" name="Google Shape;1057;p24"/>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58" name="Google Shape;1058;p24"/>
          <p:cNvSpPr txBox="1"/>
          <p:nvPr>
            <p:ph idx="1" type="subTitle"/>
          </p:nvPr>
        </p:nvSpPr>
        <p:spPr>
          <a:xfrm>
            <a:off x="720000"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59" name="Google Shape;1059;p24"/>
          <p:cNvSpPr txBox="1"/>
          <p:nvPr>
            <p:ph idx="2" type="subTitle"/>
          </p:nvPr>
        </p:nvSpPr>
        <p:spPr>
          <a:xfrm>
            <a:off x="3584484"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60" name="Google Shape;1060;p24"/>
          <p:cNvSpPr txBox="1"/>
          <p:nvPr>
            <p:ph idx="3" type="subTitle"/>
          </p:nvPr>
        </p:nvSpPr>
        <p:spPr>
          <a:xfrm>
            <a:off x="6448975"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idx="4" type="subTitle"/>
          </p:nvPr>
        </p:nvSpPr>
        <p:spPr>
          <a:xfrm>
            <a:off x="720000"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063" name="Google Shape;1063;p24"/>
          <p:cNvSpPr txBox="1"/>
          <p:nvPr>
            <p:ph idx="5" type="subTitle"/>
          </p:nvPr>
        </p:nvSpPr>
        <p:spPr>
          <a:xfrm>
            <a:off x="3584483"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064" name="Google Shape;1064;p24"/>
          <p:cNvSpPr txBox="1"/>
          <p:nvPr>
            <p:ph idx="6" type="subTitle"/>
          </p:nvPr>
        </p:nvSpPr>
        <p:spPr>
          <a:xfrm>
            <a:off x="6448972"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4"/>
            <p:cNvSpPr/>
            <p:nvPr/>
          </p:nvSpPr>
          <p:spPr>
            <a:xfrm>
              <a:off x="6873793" y="233942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2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2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2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2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2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2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alphaModFix/>
            </a:blip>
            <a:srcRect b="26177" l="16960" r="7121" t="24719"/>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24"/>
            <p:cNvSpPr/>
            <p:nvPr/>
          </p:nvSpPr>
          <p:spPr>
            <a:xfrm>
              <a:off x="941424" y="47243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4"/>
            <p:cNvSpPr/>
            <p:nvPr/>
          </p:nvSpPr>
          <p:spPr>
            <a:xfrm>
              <a:off x="820562" y="49581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4"/>
            <p:cNvSpPr/>
            <p:nvPr/>
          </p:nvSpPr>
          <p:spPr>
            <a:xfrm>
              <a:off x="1299000" y="4608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4"/>
            <p:cNvSpPr/>
            <p:nvPr/>
          </p:nvSpPr>
          <p:spPr>
            <a:xfrm rot="5400000">
              <a:off x="447539" y="31337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24"/>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24"/>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24"/>
              <p:cNvSpPr/>
              <p:nvPr/>
            </p:nvSpPr>
            <p:spPr>
              <a:xfrm rot="10800000">
                <a:off x="-575573" y="3820175"/>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1" name="Google Shape;1101;p24"/>
            <p:cNvSpPr/>
            <p:nvPr/>
          </p:nvSpPr>
          <p:spPr>
            <a:xfrm>
              <a:off x="0" y="36165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24"/>
            <p:cNvSpPr/>
            <p:nvPr/>
          </p:nvSpPr>
          <p:spPr>
            <a:xfrm>
              <a:off x="131225" y="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3" name="Google Shape;1103;p24"/>
            <p:cNvGrpSpPr/>
            <p:nvPr/>
          </p:nvGrpSpPr>
          <p:grpSpPr>
            <a:xfrm flipH="1" rot="-2700000">
              <a:off x="-216370" y="1084101"/>
              <a:ext cx="708093" cy="708493"/>
              <a:chOff x="3678700" y="407275"/>
              <a:chExt cx="708100" cy="708500"/>
            </a:xfrm>
          </p:grpSpPr>
          <p:sp>
            <p:nvSpPr>
              <p:cNvPr id="1104" name="Google Shape;1104;p24"/>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24"/>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24"/>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24"/>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24"/>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24"/>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24"/>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idx="1" type="subTitle"/>
          </p:nvPr>
        </p:nvSpPr>
        <p:spPr>
          <a:xfrm>
            <a:off x="720000"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3" name="Google Shape;1113;p25"/>
          <p:cNvSpPr txBox="1"/>
          <p:nvPr>
            <p:ph idx="2" type="subTitle"/>
          </p:nvPr>
        </p:nvSpPr>
        <p:spPr>
          <a:xfrm>
            <a:off x="3584484"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4" name="Google Shape;1114;p25"/>
          <p:cNvSpPr txBox="1"/>
          <p:nvPr>
            <p:ph idx="3" type="subTitle"/>
          </p:nvPr>
        </p:nvSpPr>
        <p:spPr>
          <a:xfrm>
            <a:off x="6448975"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idx="4" type="subTitle"/>
          </p:nvPr>
        </p:nvSpPr>
        <p:spPr>
          <a:xfrm>
            <a:off x="720000"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7" name="Google Shape;1117;p25"/>
          <p:cNvSpPr txBox="1"/>
          <p:nvPr>
            <p:ph idx="5" type="subTitle"/>
          </p:nvPr>
        </p:nvSpPr>
        <p:spPr>
          <a:xfrm>
            <a:off x="3584483"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8" name="Google Shape;1118;p25"/>
          <p:cNvSpPr txBox="1"/>
          <p:nvPr>
            <p:ph idx="6" type="subTitle"/>
          </p:nvPr>
        </p:nvSpPr>
        <p:spPr>
          <a:xfrm>
            <a:off x="6448972"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9" name="Google Shape;1119;p25"/>
          <p:cNvSpPr/>
          <p:nvPr>
            <p:ph idx="7" type="pic"/>
          </p:nvPr>
        </p:nvSpPr>
        <p:spPr>
          <a:xfrm>
            <a:off x="720000" y="1236800"/>
            <a:ext cx="1981800" cy="1662300"/>
          </a:xfrm>
          <a:prstGeom prst="snip1Rect">
            <a:avLst>
              <a:gd fmla="val 16667" name="adj"/>
            </a:avLst>
          </a:prstGeom>
          <a:noFill/>
          <a:ln>
            <a:noFill/>
          </a:ln>
        </p:spPr>
      </p:sp>
      <p:sp>
        <p:nvSpPr>
          <p:cNvPr id="1120" name="Google Shape;1120;p25"/>
          <p:cNvSpPr/>
          <p:nvPr>
            <p:ph idx="8" type="pic"/>
          </p:nvPr>
        </p:nvSpPr>
        <p:spPr>
          <a:xfrm>
            <a:off x="3584475" y="1236800"/>
            <a:ext cx="1981800" cy="1662300"/>
          </a:xfrm>
          <a:prstGeom prst="snip1Rect">
            <a:avLst>
              <a:gd fmla="val 16667" name="adj"/>
            </a:avLst>
          </a:prstGeom>
          <a:noFill/>
          <a:ln>
            <a:noFill/>
          </a:ln>
        </p:spPr>
      </p:sp>
      <p:sp>
        <p:nvSpPr>
          <p:cNvPr id="1121" name="Google Shape;1121;p25"/>
          <p:cNvSpPr/>
          <p:nvPr>
            <p:ph idx="9" type="pic"/>
          </p:nvPr>
        </p:nvSpPr>
        <p:spPr>
          <a:xfrm>
            <a:off x="6448950" y="1236800"/>
            <a:ext cx="1981800" cy="1662300"/>
          </a:xfrm>
          <a:prstGeom prst="snip1Rect">
            <a:avLst>
              <a:gd fmla="val 16667" name="adj"/>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25"/>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25"/>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25"/>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136" name="Google Shape;1136;p25"/>
            <p:cNvSpPr/>
            <p:nvPr/>
          </p:nvSpPr>
          <p:spPr>
            <a:xfrm rot="-5400000">
              <a:off x="289120"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39" name="Google Shape;1139;p25"/>
            <p:cNvPicPr preferRelativeResize="0"/>
            <p:nvPr/>
          </p:nvPicPr>
          <p:blipFill rotWithShape="1">
            <a:blip r:embed="rId2">
              <a:alphaModFix/>
            </a:blip>
            <a:srcRect b="26177" l="16960" r="7121" t="24719"/>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2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2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2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2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2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2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2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2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2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2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2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2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62" name="Google Shape;1162;p2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163" name="Google Shape;1163;p2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idx="1" type="subTitle"/>
          </p:nvPr>
        </p:nvSpPr>
        <p:spPr>
          <a:xfrm>
            <a:off x="1804750" y="1935218"/>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7" name="Google Shape;1167;p26"/>
          <p:cNvSpPr txBox="1"/>
          <p:nvPr>
            <p:ph idx="2" type="subTitle"/>
          </p:nvPr>
        </p:nvSpPr>
        <p:spPr>
          <a:xfrm>
            <a:off x="5237152" y="1935218"/>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8" name="Google Shape;1168;p26"/>
          <p:cNvSpPr txBox="1"/>
          <p:nvPr>
            <p:ph idx="3" type="subTitle"/>
          </p:nvPr>
        </p:nvSpPr>
        <p:spPr>
          <a:xfrm>
            <a:off x="1804750" y="3561374"/>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9" name="Google Shape;1169;p26"/>
          <p:cNvSpPr txBox="1"/>
          <p:nvPr>
            <p:ph idx="4" type="subTitle"/>
          </p:nvPr>
        </p:nvSpPr>
        <p:spPr>
          <a:xfrm>
            <a:off x="5237152" y="3561374"/>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70" name="Google Shape;1170;p26"/>
          <p:cNvSpPr txBox="1"/>
          <p:nvPr>
            <p:ph idx="5" type="subTitle"/>
          </p:nvPr>
        </p:nvSpPr>
        <p:spPr>
          <a:xfrm>
            <a:off x="1804750" y="1605775"/>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1" name="Google Shape;1171;p26"/>
          <p:cNvSpPr txBox="1"/>
          <p:nvPr>
            <p:ph idx="6" type="subTitle"/>
          </p:nvPr>
        </p:nvSpPr>
        <p:spPr>
          <a:xfrm>
            <a:off x="5237150" y="1605775"/>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2" name="Google Shape;1172;p26"/>
          <p:cNvSpPr txBox="1"/>
          <p:nvPr>
            <p:ph idx="7" type="subTitle"/>
          </p:nvPr>
        </p:nvSpPr>
        <p:spPr>
          <a:xfrm>
            <a:off x="1804750" y="3231981"/>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3" name="Google Shape;1173;p26"/>
          <p:cNvSpPr txBox="1"/>
          <p:nvPr>
            <p:ph idx="8" type="subTitle"/>
          </p:nvPr>
        </p:nvSpPr>
        <p:spPr>
          <a:xfrm>
            <a:off x="5237150" y="3231981"/>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alphaModFix/>
            </a:blip>
            <a:srcRect b="26177" l="16960" r="7121" t="24719"/>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flipH="1" rot="2700000">
                <a:off x="-1733384" y="199281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26"/>
              <p:cNvSpPr/>
              <p:nvPr/>
            </p:nvSpPr>
            <p:spPr>
              <a:xfrm flipH="1" rot="2700000">
                <a:off x="-1192832" y="2500186"/>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26"/>
                <p:cNvSpPr/>
                <p:nvPr/>
              </p:nvSpPr>
              <p:spPr>
                <a:xfrm rot="10800000">
                  <a:off x="-102297" y="3780153"/>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flipH="1" rot="-8100000">
                  <a:off x="6536116" y="31506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26"/>
                <p:cNvSpPr/>
                <p:nvPr/>
              </p:nvSpPr>
              <p:spPr>
                <a:xfrm flipH="1" rot="-8100000">
                  <a:off x="7076657" y="1499343"/>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 name="Google Shape;1196;p26"/>
                <p:cNvSpPr/>
                <p:nvPr/>
              </p:nvSpPr>
              <p:spPr>
                <a:xfrm>
                  <a:off x="8301511" y="-335348"/>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 name="Google Shape;1197;p26"/>
                <p:cNvSpPr/>
                <p:nvPr/>
              </p:nvSpPr>
              <p:spPr>
                <a:xfrm>
                  <a:off x="8554000" y="27076"/>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1207" name="Google Shape;1207;p26"/>
            <p:cNvPicPr preferRelativeResize="0"/>
            <p:nvPr/>
          </p:nvPicPr>
          <p:blipFill rotWithShape="1">
            <a:blip r:embed="rId2">
              <a:alphaModFix/>
            </a:blip>
            <a:srcRect b="26177" l="16960" r="7121" t="24719"/>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2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2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idx="1" type="subTitle"/>
          </p:nvPr>
        </p:nvSpPr>
        <p:spPr>
          <a:xfrm>
            <a:off x="720000"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18" name="Google Shape;1218;p27"/>
          <p:cNvSpPr txBox="1"/>
          <p:nvPr>
            <p:ph idx="2" type="subTitle"/>
          </p:nvPr>
        </p:nvSpPr>
        <p:spPr>
          <a:xfrm>
            <a:off x="3469872"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19" name="Google Shape;1219;p27"/>
          <p:cNvSpPr txBox="1"/>
          <p:nvPr>
            <p:ph idx="3" type="subTitle"/>
          </p:nvPr>
        </p:nvSpPr>
        <p:spPr>
          <a:xfrm>
            <a:off x="720000"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0" name="Google Shape;1220;p27"/>
          <p:cNvSpPr txBox="1"/>
          <p:nvPr>
            <p:ph idx="4" type="subTitle"/>
          </p:nvPr>
        </p:nvSpPr>
        <p:spPr>
          <a:xfrm>
            <a:off x="3469872"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1" name="Google Shape;1221;p27"/>
          <p:cNvSpPr txBox="1"/>
          <p:nvPr>
            <p:ph idx="5" type="subTitle"/>
          </p:nvPr>
        </p:nvSpPr>
        <p:spPr>
          <a:xfrm>
            <a:off x="6219751"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2" name="Google Shape;1222;p27"/>
          <p:cNvSpPr txBox="1"/>
          <p:nvPr>
            <p:ph idx="6" type="subTitle"/>
          </p:nvPr>
        </p:nvSpPr>
        <p:spPr>
          <a:xfrm>
            <a:off x="6219751"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3" name="Google Shape;1223;p27"/>
          <p:cNvSpPr txBox="1"/>
          <p:nvPr>
            <p:ph idx="7" type="subTitle"/>
          </p:nvPr>
        </p:nvSpPr>
        <p:spPr>
          <a:xfrm>
            <a:off x="720000"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4" name="Google Shape;1224;p27"/>
          <p:cNvSpPr txBox="1"/>
          <p:nvPr>
            <p:ph idx="8" type="subTitle"/>
          </p:nvPr>
        </p:nvSpPr>
        <p:spPr>
          <a:xfrm>
            <a:off x="3469873"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5" name="Google Shape;1225;p27"/>
          <p:cNvSpPr txBox="1"/>
          <p:nvPr>
            <p:ph idx="9" type="subTitle"/>
          </p:nvPr>
        </p:nvSpPr>
        <p:spPr>
          <a:xfrm>
            <a:off x="720000"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6" name="Google Shape;1226;p27"/>
          <p:cNvSpPr txBox="1"/>
          <p:nvPr>
            <p:ph idx="13" type="subTitle"/>
          </p:nvPr>
        </p:nvSpPr>
        <p:spPr>
          <a:xfrm>
            <a:off x="3469873"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7" name="Google Shape;1227;p27"/>
          <p:cNvSpPr txBox="1"/>
          <p:nvPr>
            <p:ph idx="14" type="subTitle"/>
          </p:nvPr>
        </p:nvSpPr>
        <p:spPr>
          <a:xfrm>
            <a:off x="6219752"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8" name="Google Shape;1228;p27"/>
          <p:cNvSpPr txBox="1"/>
          <p:nvPr>
            <p:ph idx="15" type="subTitle"/>
          </p:nvPr>
        </p:nvSpPr>
        <p:spPr>
          <a:xfrm>
            <a:off x="6219752"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alphaModFix/>
            </a:blip>
            <a:srcRect b="26177" l="16960" r="7121" t="24719"/>
            <a:stretch/>
          </p:blipFill>
          <p:spPr>
            <a:xfrm>
              <a:off x="7361325" y="-596625"/>
              <a:ext cx="2441950" cy="1863749"/>
            </a:xfrm>
            <a:prstGeom prst="rect">
              <a:avLst/>
            </a:prstGeom>
            <a:noFill/>
            <a:ln>
              <a:noFill/>
            </a:ln>
          </p:spPr>
        </p:pic>
        <p:grpSp>
          <p:nvGrpSpPr>
            <p:cNvPr id="1231" name="Google Shape;1231;p27"/>
            <p:cNvGrpSpPr/>
            <p:nvPr/>
          </p:nvGrpSpPr>
          <p:grpSpPr>
            <a:xfrm flipH="1" rot="-2700000">
              <a:off x="7289785" y="-1246897"/>
              <a:ext cx="2552124" cy="3347490"/>
              <a:chOff x="2976325" y="908175"/>
              <a:chExt cx="4028179" cy="5283555"/>
            </a:xfrm>
          </p:grpSpPr>
          <p:sp>
            <p:nvSpPr>
              <p:cNvPr id="1232" name="Google Shape;1232;p27"/>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27"/>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27"/>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27"/>
              <p:cNvSpPr/>
              <p:nvPr/>
            </p:nvSpPr>
            <p:spPr>
              <a:xfrm>
                <a:off x="6627600" y="-49075"/>
                <a:ext cx="570546" cy="494095"/>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27"/>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27"/>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243" name="Google Shape;1243;p27"/>
            <p:cNvPicPr preferRelativeResize="0"/>
            <p:nvPr/>
          </p:nvPicPr>
          <p:blipFill rotWithShape="1">
            <a:blip r:embed="rId2">
              <a:alphaModFix/>
            </a:blip>
            <a:srcRect b="26177" l="16960" r="7121" t="24719"/>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2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2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2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2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2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2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2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2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2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2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2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2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3" name="Google Shape;1263;p2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264" name="Google Shape;1264;p2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hasCustomPrompt="1" type="title"/>
          </p:nvPr>
        </p:nvSpPr>
        <p:spPr>
          <a:xfrm>
            <a:off x="2358450" y="664988"/>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idx="1" type="subTitle"/>
          </p:nvPr>
        </p:nvSpPr>
        <p:spPr>
          <a:xfrm>
            <a:off x="2358450" y="1282313"/>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hasCustomPrompt="1" idx="2" type="title"/>
          </p:nvPr>
        </p:nvSpPr>
        <p:spPr>
          <a:xfrm>
            <a:off x="2358450" y="2027244"/>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idx="3" type="subTitle"/>
          </p:nvPr>
        </p:nvSpPr>
        <p:spPr>
          <a:xfrm>
            <a:off x="2358450" y="2645558"/>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hasCustomPrompt="1" idx="4" type="title"/>
          </p:nvPr>
        </p:nvSpPr>
        <p:spPr>
          <a:xfrm>
            <a:off x="2358450" y="3390475"/>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idx="5" type="subTitle"/>
          </p:nvPr>
        </p:nvSpPr>
        <p:spPr>
          <a:xfrm>
            <a:off x="2358450" y="4009779"/>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2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78" name="Google Shape;1278;p2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279" name="Google Shape;1279;p2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
    <p:spTree>
      <p:nvGrpSpPr>
        <p:cNvPr id="1280" name="Shape 1280"/>
        <p:cNvGrpSpPr/>
        <p:nvPr/>
      </p:nvGrpSpPr>
      <p:grpSpPr>
        <a:xfrm>
          <a:off x="0" y="0"/>
          <a:ext cx="0" cy="0"/>
          <a:chOff x="0" y="0"/>
          <a:chExt cx="0" cy="0"/>
        </a:xfrm>
      </p:grpSpPr>
      <p:sp>
        <p:nvSpPr>
          <p:cNvPr id="1281" name="Google Shape;1281;p29"/>
          <p:cNvSpPr txBox="1"/>
          <p:nvPr>
            <p:ph idx="1" type="subTitle"/>
          </p:nvPr>
        </p:nvSpPr>
        <p:spPr>
          <a:xfrm>
            <a:off x="1157250" y="1609575"/>
            <a:ext cx="4448100" cy="1239300"/>
          </a:xfrm>
          <a:prstGeom prst="rect">
            <a:avLst/>
          </a:prstGeom>
        </p:spPr>
        <p:txBody>
          <a:bodyPr anchorCtr="0" anchor="t" bIns="91425" lIns="91425" spcFirstLastPara="1" rIns="91425" wrap="square" tIns="91425">
            <a:noAutofit/>
          </a:bodyPr>
          <a:lstStyle>
            <a:lvl1pPr lvl="0">
              <a:spcBef>
                <a:spcPts val="0"/>
              </a:spcBef>
              <a:spcAft>
                <a:spcPts val="0"/>
              </a:spcAft>
              <a:buSzPts val="2500"/>
              <a:buFont typeface="IBM Plex Mono"/>
              <a:buNone/>
              <a:defRPr b="1" sz="2000">
                <a:latin typeface="IBM Plex Mono"/>
                <a:ea typeface="IBM Plex Mono"/>
                <a:cs typeface="IBM Plex Mono"/>
                <a:sym typeface="IBM Plex Mon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29"/>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96" name="Google Shape;1296;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29"/>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29"/>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29"/>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11" name="Google Shape;1311;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21" name="Google Shape;1321;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alphaModFix/>
            </a:blip>
            <a:srcRect b="26177" l="16960" r="7121" t="24719"/>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29"/>
              <p:cNvSpPr/>
              <p:nvPr/>
            </p:nvSpPr>
            <p:spPr>
              <a:xfrm rot="5400000">
                <a:off x="537866" y="3393994"/>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29"/>
              <p:cNvSpPr/>
              <p:nvPr/>
            </p:nvSpPr>
            <p:spPr>
              <a:xfrm rot="5400000">
                <a:off x="67406" y="3278257"/>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29"/>
              <p:cNvSpPr/>
              <p:nvPr/>
            </p:nvSpPr>
            <p:spPr>
              <a:xfrm rot="5400000">
                <a:off x="417006" y="375669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29"/>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29"/>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30"/>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30"/>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30"/>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53" name="Google Shape;1353;p30"/>
            <p:cNvSpPr/>
            <p:nvPr/>
          </p:nvSpPr>
          <p:spPr>
            <a:xfrm rot="-5400000">
              <a:off x="289120"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56" name="Google Shape;1356;p30"/>
            <p:cNvPicPr preferRelativeResize="0"/>
            <p:nvPr/>
          </p:nvPicPr>
          <p:blipFill rotWithShape="1">
            <a:blip r:embed="rId2">
              <a:alphaModFix/>
            </a:blip>
            <a:srcRect b="26177" l="16960" r="7121" t="24719"/>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3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 name="Google Shape;1361;p3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3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3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3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3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3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3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 name="Google Shape;1370;p3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3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3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3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bg>
      <p:bgPr>
        <a:solidFill>
          <a:schemeClr val="dk2"/>
        </a:solidFill>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alphaModFix/>
            </a:blip>
            <a:srcRect b="26177" l="16960" r="7121" t="24719"/>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3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3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alphaModFix/>
            </a:blip>
            <a:srcRect b="26177" l="16960" r="7121" t="24719"/>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18" name="Google Shape;1418;p31"/>
              <p:cNvCxnSpPr/>
              <p:nvPr/>
            </p:nvCxnSpPr>
            <p:spPr>
              <a:xfrm>
                <a:off x="796100" y="3086750"/>
                <a:ext cx="4462800" cy="0"/>
              </a:xfrm>
              <a:prstGeom prst="straightConnector1">
                <a:avLst/>
              </a:prstGeom>
              <a:noFill/>
              <a:ln cap="flat" cmpd="sng" w="9525">
                <a:solidFill>
                  <a:schemeClr val="lt1"/>
                </a:solidFill>
                <a:prstDash val="solid"/>
                <a:round/>
                <a:headEnd len="med" w="med" type="none"/>
                <a:tailEnd len="med" w="med" type="none"/>
              </a:ln>
            </p:spPr>
          </p:cxnSp>
          <p:sp>
            <p:nvSpPr>
              <p:cNvPr id="1419" name="Google Shape;1419;p31"/>
              <p:cNvSpPr/>
              <p:nvPr/>
            </p:nvSpPr>
            <p:spPr>
              <a:xfrm>
                <a:off x="5251079" y="3049843"/>
                <a:ext cx="73800" cy="738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9pPr>
          </a:lstStyle>
          <a:p/>
        </p:txBody>
      </p:sp>
      <p:sp>
        <p:nvSpPr>
          <p:cNvPr id="7" name="Google Shape;7;p1"/>
          <p:cNvSpPr txBox="1"/>
          <p:nvPr>
            <p:ph idx="1" type="body"/>
          </p:nvPr>
        </p:nvSpPr>
        <p:spPr>
          <a:xfrm>
            <a:off x="713225" y="1152475"/>
            <a:ext cx="7681800" cy="3416400"/>
          </a:xfrm>
          <a:prstGeom prst="rect">
            <a:avLst/>
          </a:prstGeom>
          <a:noFill/>
          <a:ln>
            <a:noFill/>
          </a:ln>
        </p:spPr>
        <p:txBody>
          <a:bodyPr anchorCtr="0" anchor="t" bIns="91425" lIns="91425" spcFirstLastPara="1" rIns="91425" wrap="square" tIns="91425">
            <a:noAutofit/>
          </a:bodyPr>
          <a:lstStyle>
            <a:lvl1pPr indent="-317500" lvl="0" marL="4572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indent="-317500" lvl="1" marL="9144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indent="-317500" lvl="2" marL="13716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indent="-317500" lvl="3" marL="18288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indent="-317500" lvl="4" marL="22860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indent="-317500" lvl="5" marL="27432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indent="-317500" lvl="6" marL="32004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indent="-317500" lvl="7" marL="36576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indent="-317500" lvl="8" marL="41148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indent="-298450" lvl="1" marL="9144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indent="-298450" lvl="2" marL="13716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indent="-298450" lvl="3" marL="18288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indent="-298450" lvl="4" marL="22860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indent="-298450" lvl="5" marL="27432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indent="-298450" lvl="6" marL="32004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indent="-298450" lvl="7" marL="36576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indent="-298450" lvl="8" marL="41148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accent1="accent1" accent2="accent2" accent3="accent3" accent4="accent4" accent5="accent5" accent6="accent6" bg1="lt1" bg2="dk2" tx1="dk1" tx2="lt2" folHlink="folHlink" hlink="hlink"/>
  <p:sldLayoutIdLst>
    <p:sldLayoutId id="2147483678" r:id="rId1"/>
    <p:sldLayoutId id="214748367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W6PeJrd7QuaEwtNjMzLFIwk8GMla41rffW2XDaGrDt4/copy" TargetMode="External"/><Relationship Id="rId5" Type="http://schemas.openxmlformats.org/officeDocument/2006/relationships/image" Target="../media/image7.png"/><Relationship Id="rId6"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29" name="Shape 1429"/>
        <p:cNvGrpSpPr/>
        <p:nvPr/>
      </p:nvGrpSpPr>
      <p:grpSpPr>
        <a:xfrm>
          <a:off x="0" y="0"/>
          <a:ext cx="0" cy="0"/>
          <a:chOff x="0" y="0"/>
          <a:chExt cx="0" cy="0"/>
        </a:xfrm>
      </p:grpSpPr>
      <p:sp>
        <p:nvSpPr>
          <p:cNvPr id="1430" name="Google Shape;1430;p35"/>
          <p:cNvSpPr txBox="1"/>
          <p:nvPr>
            <p:ph idx="1" type="subTitle"/>
          </p:nvPr>
        </p:nvSpPr>
        <p:spPr>
          <a:xfrm>
            <a:off x="1096850" y="3456250"/>
            <a:ext cx="5760720" cy="82296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1000"/>
              <a:t>Tối ưu đồng thời quỹ đạo UAV, lựa chọn relay và phân bổ băng thông cho truyền cảnh báo kịp hạn trong mạng sau thảm họa</a:t>
            </a:r>
          </a:p>
          <a:p>
            <a:pPr indent="0" lvl="0" marL="0" rtl="0" algn="l">
              <a:spcBef>
                <a:spcPts val="600"/>
              </a:spcBef>
              <a:spcAft>
                <a:spcPts val="0"/>
              </a:spcAft>
              <a:buNone/>
            </a:pPr>
            <a:r>
              <a:rPr lang="vi-VN" b="1" sz="1000"/>
              <a:t>Doãn Văn An · Nguyễn Bá Minh Đạt · Phạm Sơn Tùng · Lê Tuấn Đạt · Lê Xuân Lợi</a:t>
            </a:r>
          </a:p>
        </p:txBody>
      </p:sp>
      <p:sp>
        <p:nvSpPr>
          <p:cNvPr id="1431" name="Google Shape;1431;p35"/>
          <p:cNvSpPr txBox="1"/>
          <p:nvPr>
            <p:ph type="ctrTitle"/>
          </p:nvPr>
        </p:nvSpPr>
        <p:spPr>
          <a:xfrm>
            <a:off x="1096850" y="816324"/>
            <a:ext cx="5760720" cy="2326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2200">
                <a:solidFill>
                  <a:schemeClr val="dk2"/>
                </a:solidFill>
              </a:rPr>
              <a:t>Joint UAV Trajectory, Relay Selection, and Bandwidth Allocation for Deadline-Aware Alert Delivery in Disaster Networks</a:t>
            </a: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cap="flat" cmpd="sng" w="9525">
              <a:solidFill>
                <a:schemeClr val="dk2"/>
              </a:solidFill>
              <a:prstDash val="solid"/>
              <a:round/>
              <a:headEnd len="med" w="med" type="none"/>
              <a:tailEnd len="med" w="med" type="none"/>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35"/>
              <p:cNvSpPr/>
              <p:nvPr/>
            </p:nvSpPr>
            <p:spPr>
              <a:xfrm>
                <a:off x="8382514" y="1084976"/>
                <a:ext cx="265800" cy="265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39" name="Google Shape;1439;p35"/>
            <p:cNvCxnSpPr/>
            <p:nvPr/>
          </p:nvCxnSpPr>
          <p:spPr>
            <a:xfrm>
              <a:off x="8084450" y="-313900"/>
              <a:ext cx="0" cy="1795200"/>
            </a:xfrm>
            <a:prstGeom prst="straightConnector1">
              <a:avLst/>
            </a:prstGeom>
            <a:noFill/>
            <a:ln cap="flat" cmpd="sng" w="9525">
              <a:solidFill>
                <a:schemeClr val="dk2"/>
              </a:solidFill>
              <a:prstDash val="solid"/>
              <a:round/>
              <a:headEnd len="med" w="med" type="none"/>
              <a:tailEnd len="med" w="med" type="none"/>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2" name="Google Shape;1452;p35"/>
            <p:cNvSpPr/>
            <p:nvPr/>
          </p:nvSpPr>
          <p:spPr>
            <a:xfrm rot="5400000">
              <a:off x="7687039" y="1023058"/>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3200">
                <a:solidFill>
                  <a:schemeClr val="dk2"/>
                </a:solidFill>
                <a:latin typeface="IBM Plex Mono"/>
                <a:ea typeface="IBM Plex Mono"/>
                <a:cs typeface="IBM Plex Mono"/>
                <a:sym typeface="IBM Plex Mono"/>
              </a:rPr>
              <a:t>Nội dung</a:t>
            </a:r>
          </a:p>
        </p:txBody>
      </p:sp>
      <p:sp>
        <p:nvSpPr>
          <p:cNvPr id="1467" name="Google Shape;1467;p37"/>
          <p:cNvSpPr txBox="1"/>
          <p:nvPr>
            <p:ph idx="9" type="subTitle"/>
          </p:nvPr>
        </p:nvSpPr>
        <p:spPr>
          <a:xfrm>
            <a:off x="720000" y="1918675"/>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Bài toán</a:t>
            </a:r>
          </a:p>
        </p:txBody>
      </p:sp>
      <p:sp>
        <p:nvSpPr>
          <p:cNvPr id="1468" name="Google Shape;1468;p37"/>
          <p:cNvSpPr txBox="1"/>
          <p:nvPr>
            <p:ph idx="1" type="subTitle"/>
          </p:nvPr>
        </p:nvSpPr>
        <p:spPr>
          <a:xfrm>
            <a:off x="720000" y="2244725"/>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Từ paper gốc đến bài toán thực tế hơn</a:t>
            </a:r>
          </a:p>
        </p:txBody>
      </p:sp>
      <p:sp>
        <p:nvSpPr>
          <p:cNvPr id="1469" name="Google Shape;1469;p37"/>
          <p:cNvSpPr txBox="1"/>
          <p:nvPr>
            <p:ph idx="2" type="subTitle"/>
          </p:nvPr>
        </p:nvSpPr>
        <p:spPr>
          <a:xfrm>
            <a:off x="4366700" y="2244725"/>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 NP-hardness và LP upper bound</a:t>
            </a:r>
          </a:p>
        </p:txBody>
      </p:sp>
      <p:sp>
        <p:nvSpPr>
          <p:cNvPr id="1470" name="Google Shape;1470;p37"/>
          <p:cNvSpPr txBox="1"/>
          <p:nvPr>
            <p:ph idx="3" type="subTitle"/>
          </p:nvPr>
        </p:nvSpPr>
        <p:spPr>
          <a:xfrm>
            <a:off x="720000" y="3940900"/>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Sample-scored block search và SBS-R</a:t>
            </a:r>
          </a:p>
        </p:txBody>
      </p:sp>
      <p:sp>
        <p:nvSpPr>
          <p:cNvPr id="1471" name="Google Shape;1471;p37"/>
          <p:cNvSpPr txBox="1"/>
          <p:nvPr>
            <p:ph idx="4" type="subTitle"/>
          </p:nvPr>
        </p:nvSpPr>
        <p:spPr>
          <a:xfrm>
            <a:off x="4366700" y="3940900"/>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Benchmark, ablation, case study RescueNet</a:t>
            </a:r>
          </a:p>
        </p:txBody>
      </p:sp>
      <p:sp>
        <p:nvSpPr>
          <p:cNvPr id="1472" name="Google Shape;1472;p37"/>
          <p:cNvSpPr txBox="1"/>
          <p:nvPr>
            <p:ph idx="5" type="title"/>
          </p:nvPr>
        </p:nvSpPr>
        <p:spPr>
          <a:xfrm>
            <a:off x="720003" y="1344775"/>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01</a:t>
            </a:r>
            <a:endParaRPr/>
          </a:p>
        </p:txBody>
      </p:sp>
      <p:sp>
        <p:nvSpPr>
          <p:cNvPr id="1473" name="Google Shape;1473;p37"/>
          <p:cNvSpPr txBox="1"/>
          <p:nvPr>
            <p:ph idx="6" type="title"/>
          </p:nvPr>
        </p:nvSpPr>
        <p:spPr>
          <a:xfrm>
            <a:off x="720003" y="3040971"/>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03</a:t>
            </a:r>
            <a:endParaRPr/>
          </a:p>
        </p:txBody>
      </p:sp>
      <p:sp>
        <p:nvSpPr>
          <p:cNvPr id="1474" name="Google Shape;1474;p37"/>
          <p:cNvSpPr txBox="1"/>
          <p:nvPr>
            <p:ph idx="7" type="title"/>
          </p:nvPr>
        </p:nvSpPr>
        <p:spPr>
          <a:xfrm>
            <a:off x="4366698" y="1344775"/>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02</a:t>
            </a:r>
            <a:endParaRPr/>
          </a:p>
        </p:txBody>
      </p:sp>
      <p:sp>
        <p:nvSpPr>
          <p:cNvPr id="1475" name="Google Shape;1475;p37"/>
          <p:cNvSpPr txBox="1"/>
          <p:nvPr>
            <p:ph idx="8" type="title"/>
          </p:nvPr>
        </p:nvSpPr>
        <p:spPr>
          <a:xfrm>
            <a:off x="4366698" y="3040971"/>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04</a:t>
            </a:r>
            <a:endParaRPr/>
          </a:p>
        </p:txBody>
      </p:sp>
      <p:sp>
        <p:nvSpPr>
          <p:cNvPr id="1476" name="Google Shape;1476;p37"/>
          <p:cNvSpPr txBox="1"/>
          <p:nvPr>
            <p:ph idx="13" type="subTitle"/>
          </p:nvPr>
        </p:nvSpPr>
        <p:spPr>
          <a:xfrm>
            <a:off x="4366698" y="1918675"/>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Formulation</a:t>
            </a:r>
          </a:p>
        </p:txBody>
      </p:sp>
      <p:sp>
        <p:nvSpPr>
          <p:cNvPr id="1477" name="Google Shape;1477;p37"/>
          <p:cNvSpPr txBox="1"/>
          <p:nvPr>
            <p:ph idx="14" type="subTitle"/>
          </p:nvPr>
        </p:nvSpPr>
        <p:spPr>
          <a:xfrm>
            <a:off x="720000" y="3614801"/>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Phương pháp</a:t>
            </a:r>
          </a:p>
        </p:txBody>
      </p:sp>
      <p:sp>
        <p:nvSpPr>
          <p:cNvPr id="1478" name="Google Shape;1478;p37"/>
          <p:cNvSpPr txBox="1"/>
          <p:nvPr>
            <p:ph idx="15" type="subTitle"/>
          </p:nvPr>
        </p:nvSpPr>
        <p:spPr>
          <a:xfrm>
            <a:off x="4366698" y="3614801"/>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Kết quả</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01</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Paper gốc (Huang et al., 2025) và bài toán của nhóm</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Bài toán</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Paper gốc vs. bài của nhóm</a:t>
            </a:r>
          </a:p>
        </p:txBody>
      </p:sp>
      <p:sp>
        <p:nvSpPr>
          <p:cNvPr id="1531" name="Rounded Rectangle 1530"/>
          <p:cNvSpPr/>
          <p:nvPr/>
        </p:nvSpPr>
        <p:spPr>
          <a:xfrm>
            <a:off x="566928" y="1207008"/>
            <a:ext cx="3794760" cy="2395728"/>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Rounded Rectangle 1531"/>
          <p:cNvSpPr/>
          <p:nvPr/>
        </p:nvSpPr>
        <p:spPr>
          <a:xfrm>
            <a:off x="4782312" y="1207008"/>
            <a:ext cx="3794760" cy="2395728"/>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3" name="Picture 1532" descr="figure-01.png"/>
          <p:cNvPicPr>
            <a:picLocks noChangeAspect="1"/>
          </p:cNvPicPr>
          <p:nvPr/>
        </p:nvPicPr>
        <p:blipFill>
          <a:blip r:embed="rId3"/>
          <a:stretch>
            <a:fillRect/>
          </a:stretch>
        </p:blipFill>
        <p:spPr>
          <a:xfrm>
            <a:off x="658368" y="1273149"/>
            <a:ext cx="3611880" cy="2263445"/>
          </a:xfrm>
          <a:prstGeom prst="rect">
            <a:avLst/>
          </a:prstGeom>
        </p:spPr>
      </p:pic>
      <p:pic>
        <p:nvPicPr>
          <p:cNvPr id="1534" name="Picture 1533" descr="ours.png"/>
          <p:cNvPicPr>
            <a:picLocks noChangeAspect="1"/>
          </p:cNvPicPr>
          <p:nvPr/>
        </p:nvPicPr>
        <p:blipFill>
          <a:blip r:embed="rId4"/>
          <a:stretch>
            <a:fillRect/>
          </a:stretch>
        </p:blipFill>
        <p:spPr>
          <a:xfrm>
            <a:off x="4864608" y="1439606"/>
            <a:ext cx="3630168" cy="1930531"/>
          </a:xfrm>
          <a:prstGeom prst="rect">
            <a:avLst/>
          </a:prstGeom>
        </p:spPr>
      </p:pic>
      <p:sp>
        <p:nvSpPr>
          <p:cNvPr id="1535" name="Oval 1534"/>
          <p:cNvSpPr/>
          <p:nvPr/>
        </p:nvSpPr>
        <p:spPr>
          <a:xfrm>
            <a:off x="4297680" y="2157984"/>
            <a:ext cx="548640" cy="493776"/>
          </a:xfrm>
          <a:prstGeom prst="ellipse">
            <a:avLst/>
          </a:prstGeom>
          <a:solidFill>
            <a:srgbClr val="EB910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IBM Plex Mono"/>
              </a:rPr>
              <a:t>vs</a:t>
            </a:r>
          </a:p>
        </p:txBody>
      </p:sp>
      <p:sp>
        <p:nvSpPr>
          <p:cNvPr id="1536" name="TextBox 1535"/>
          <p:cNvSpPr txBox="1"/>
          <p:nvPr/>
        </p:nvSpPr>
        <p:spPr>
          <a:xfrm>
            <a:off x="566928" y="3675887"/>
            <a:ext cx="3794760" cy="274320"/>
          </a:xfrm>
          <a:prstGeom prst="rect">
            <a:avLst/>
          </a:prstGeom>
          <a:noFill/>
        </p:spPr>
        <p:txBody>
          <a:bodyPr wrap="square" lIns="36576" rIns="36576" tIns="18288" bIns="18288" anchor="t">
            <a:spAutoFit/>
          </a:bodyPr>
          <a:lstStyle/>
          <a:p>
            <a:pPr algn="l">
              <a:spcAft>
                <a:spcPts val="400"/>
              </a:spcAft>
            </a:pPr>
            <a:r>
              <a:rPr sz="1100" b="1">
                <a:solidFill>
                  <a:srgbClr val="0C0A9E"/>
                </a:solidFill>
                <a:latin typeface="IBM Plex Mono"/>
              </a:rPr>
              <a:t>Huang et al. (2025): DDATSAP</a:t>
            </a:r>
          </a:p>
        </p:txBody>
      </p:sp>
      <p:sp>
        <p:nvSpPr>
          <p:cNvPr id="1537" name="TextBox 1536"/>
          <p:cNvSpPr txBox="1"/>
          <p:nvPr/>
        </p:nvSpPr>
        <p:spPr>
          <a:xfrm>
            <a:off x="566928" y="3950208"/>
            <a:ext cx="3794760" cy="82296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UAV two-way relay cho các user pair, không có mạng mặt đất</a:t>
            </a:r>
          </a:p>
          <a:p>
            <a:pPr algn="l" marL="171450" indent="-171450">
              <a:spcAft>
                <a:spcPts val="200"/>
              </a:spcAft>
              <a:buClr>
                <a:srgbClr val="EB9109"/>
              </a:buClr>
              <a:buFont typeface="Arial"/>
              <a:buChar char="•"/>
            </a:pPr>
            <a:r>
              <a:rPr sz="950" b="0">
                <a:solidFill>
                  <a:srgbClr val="1D1D1D"/>
                </a:solidFill>
                <a:latin typeface="Be Vietnam Pro"/>
              </a:rPr>
              <a:t>Mục tiêu: max-min average rate</a:t>
            </a:r>
          </a:p>
          <a:p>
            <a:pPr algn="l" marL="171450" indent="-171450">
              <a:spcAft>
                <a:spcPts val="200"/>
              </a:spcAft>
              <a:buClr>
                <a:srgbClr val="EB9109"/>
              </a:buClr>
              <a:buFont typeface="Arial"/>
              <a:buChar char="•"/>
            </a:pPr>
            <a:r>
              <a:rPr sz="950" b="0">
                <a:solidFill>
                  <a:srgbClr val="1D1D1D"/>
                </a:solidFill>
                <a:latin typeface="Be Vietnam Pro"/>
              </a:rPr>
              <a:t>Luồng dữ liệu liên tục, không có deadline</a:t>
            </a:r>
          </a:p>
        </p:txBody>
      </p:sp>
      <p:sp>
        <p:nvSpPr>
          <p:cNvPr id="1538" name="TextBox 1537"/>
          <p:cNvSpPr txBox="1"/>
          <p:nvPr/>
        </p:nvSpPr>
        <p:spPr>
          <a:xfrm>
            <a:off x="4782312" y="3675887"/>
            <a:ext cx="3794760" cy="274320"/>
          </a:xfrm>
          <a:prstGeom prst="rect">
            <a:avLst/>
          </a:prstGeom>
          <a:noFill/>
        </p:spPr>
        <p:txBody>
          <a:bodyPr wrap="square" lIns="36576" rIns="36576" tIns="18288" bIns="18288" anchor="t">
            <a:spAutoFit/>
          </a:bodyPr>
          <a:lstStyle/>
          <a:p>
            <a:pPr algn="l">
              <a:spcAft>
                <a:spcPts val="400"/>
              </a:spcAft>
            </a:pPr>
            <a:r>
              <a:rPr sz="1100" b="1">
                <a:solidFill>
                  <a:srgbClr val="8208D5"/>
                </a:solidFill>
                <a:latin typeface="IBM Plex Mono"/>
              </a:rPr>
              <a:t>Bài của nhóm: alert delivery</a:t>
            </a:r>
          </a:p>
        </p:txBody>
      </p:sp>
      <p:sp>
        <p:nvSpPr>
          <p:cNvPr id="1539" name="TextBox 1538"/>
          <p:cNvSpPr txBox="1"/>
          <p:nvPr/>
        </p:nvSpPr>
        <p:spPr>
          <a:xfrm>
            <a:off x="4782312" y="3950208"/>
            <a:ext cx="3794760" cy="82296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Sources → UAV hoặc ground relay → rescue center c</a:t>
            </a:r>
          </a:p>
          <a:p>
            <a:pPr algn="l" marL="171450" indent="-171450">
              <a:spcAft>
                <a:spcPts val="200"/>
              </a:spcAft>
              <a:buClr>
                <a:srgbClr val="EB9109"/>
              </a:buClr>
              <a:buFont typeface="Arial"/>
              <a:buChar char="•"/>
            </a:pPr>
            <a:r>
              <a:rPr sz="950" b="0">
                <a:solidFill>
                  <a:srgbClr val="1D1D1D"/>
                </a:solidFill>
                <a:latin typeface="Be Vietnam Pro"/>
              </a:rPr>
              <a:t>Ground relay network: backhaul hữu hạn, có edge bị failed</a:t>
            </a:r>
          </a:p>
          <a:p>
            <a:pPr algn="l" marL="171450" indent="-171450">
              <a:spcAft>
                <a:spcPts val="200"/>
              </a:spcAft>
              <a:buClr>
                <a:srgbClr val="EB9109"/>
              </a:buClr>
              <a:buFont typeface="Arial"/>
              <a:buChar char="•"/>
            </a:pPr>
            <a:r>
              <a:rPr sz="950" b="0">
                <a:solidFill>
                  <a:srgbClr val="1D1D1D"/>
                </a:solidFill>
                <a:latin typeface="Be Vietnam Pro"/>
              </a:rPr>
              <a:t>Mỗi alert có release time, deadline và size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5" name="Shape 1665"/>
        <p:cNvGrpSpPr/>
        <p:nvPr/>
      </p:nvGrpSpPr>
      <p:grpSpPr>
        <a:xfrm>
          <a:off x="0" y="0"/>
          <a:ext cx="0" cy="0"/>
          <a:chOff x="0" y="0"/>
          <a:chExt cx="0" cy="0"/>
        </a:xfrm>
      </p:grpSpPr>
      <p:sp>
        <p:nvSpPr>
          <p:cNvPr id="1666" name="Google Shape;1666;p4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Vì sao cần bài toán mới?</a:t>
            </a:r>
          </a:p>
        </p:txBody>
      </p:sp>
      <p:sp>
        <p:nvSpPr>
          <p:cNvPr id="1667" name="Google Shape;1667;p42"/>
          <p:cNvSpPr txBox="1"/>
          <p:nvPr>
            <p:ph idx="6" type="subTitle"/>
          </p:nvPr>
        </p:nvSpPr>
        <p:spPr>
          <a:xfrm>
            <a:off x="6448972"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Kênh PrLoS</a:t>
            </a:r>
          </a:p>
        </p:txBody>
      </p:sp>
      <p:sp>
        <p:nvSpPr>
          <p:cNvPr id="1668" name="Google Shape;1668;p42"/>
          <p:cNvSpPr txBox="1"/>
          <p:nvPr>
            <p:ph idx="1" type="subTitle"/>
          </p:nvPr>
        </p:nvSpPr>
        <p:spPr>
          <a:xfrm>
            <a:off x="720000"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Alert chỉ có giá trị khi tới rescue center đầy đủ trước deadline: cần đo timely-delivery ratio, không phải average rate</a:t>
            </a:r>
          </a:p>
        </p:txBody>
      </p:sp>
      <p:sp>
        <p:nvSpPr>
          <p:cNvPr id="1669" name="Google Shape;1669;p42"/>
          <p:cNvSpPr txBox="1"/>
          <p:nvPr>
            <p:ph idx="2" type="subTitle"/>
          </p:nvPr>
        </p:nvSpPr>
        <p:spPr>
          <a:xfrm>
            <a:off x="3584484"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Relay gần nguồn có thể đã mất backhaul hoặc nghẽn, nên không thể coi ground network là ideal sink</a:t>
            </a:r>
          </a:p>
        </p:txBody>
      </p:sp>
      <p:sp>
        <p:nvSpPr>
          <p:cNvPr id="1670" name="Google Shape;1670;p42"/>
          <p:cNvSpPr txBox="1"/>
          <p:nvPr>
            <p:ph idx="3" type="subTitle"/>
          </p:nvPr>
        </p:nvSpPr>
        <p:spPr>
          <a:xfrm>
            <a:off x="6448975"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Thiết kế trên expected rate đánh giá quá cao rate thực (Jensen's inequality), nên plan có thể trễ deadline</a:t>
            </a:r>
          </a:p>
        </p:txBody>
      </p:sp>
      <p:sp>
        <p:nvSpPr>
          <p:cNvPr id="1671" name="Google Shape;1671;p42"/>
          <p:cNvSpPr txBox="1"/>
          <p:nvPr>
            <p:ph idx="4" type="subTitle"/>
          </p:nvPr>
        </p:nvSpPr>
        <p:spPr>
          <a:xfrm>
            <a:off x="720000"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Alert có deadline</a:t>
            </a:r>
          </a:p>
        </p:txBody>
      </p:sp>
      <p:sp>
        <p:nvSpPr>
          <p:cNvPr id="1672" name="Google Shape;1672;p42"/>
          <p:cNvSpPr txBox="1"/>
          <p:nvPr>
            <p:ph idx="5" type="subTitle"/>
          </p:nvPr>
        </p:nvSpPr>
        <p:spPr>
          <a:xfrm>
            <a:off x="3584483"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Backhaul bị hỏng</a:t>
            </a:r>
          </a:p>
        </p:txBody>
      </p:sp>
      <p:grpSp>
        <p:nvGrpSpPr>
          <p:cNvPr id="1673" name="Google Shape;1673;p42"/>
          <p:cNvGrpSpPr/>
          <p:nvPr/>
        </p:nvGrpSpPr>
        <p:grpSpPr>
          <a:xfrm>
            <a:off x="812448" y="1849801"/>
            <a:ext cx="341227" cy="302177"/>
            <a:chOff x="713167" y="740543"/>
            <a:chExt cx="476707" cy="422153"/>
          </a:xfrm>
        </p:grpSpPr>
        <p:sp>
          <p:nvSpPr>
            <p:cNvPr id="1674" name="Google Shape;1674;p42"/>
            <p:cNvSpPr/>
            <p:nvPr/>
          </p:nvSpPr>
          <p:spPr>
            <a:xfrm>
              <a:off x="713167" y="740543"/>
              <a:ext cx="476707" cy="422153"/>
            </a:xfrm>
            <a:custGeom>
              <a:rect b="b" l="l" r="r" t="t"/>
              <a:pathLst>
                <a:path extrusionOk="0" h="11143" w="12583">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42"/>
            <p:cNvSpPr/>
            <p:nvPr/>
          </p:nvSpPr>
          <p:spPr>
            <a:xfrm>
              <a:off x="756621" y="834914"/>
              <a:ext cx="37468" cy="13676"/>
            </a:xfrm>
            <a:custGeom>
              <a:rect b="b" l="l" r="r" t="t"/>
              <a:pathLst>
                <a:path extrusionOk="0" h="361" w="989">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42"/>
            <p:cNvSpPr/>
            <p:nvPr/>
          </p:nvSpPr>
          <p:spPr>
            <a:xfrm>
              <a:off x="756583" y="869617"/>
              <a:ext cx="37506" cy="13714"/>
            </a:xfrm>
            <a:custGeom>
              <a:rect b="b" l="l" r="r" t="t"/>
              <a:pathLst>
                <a:path extrusionOk="0" h="362" w="99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42"/>
            <p:cNvSpPr/>
            <p:nvPr/>
          </p:nvSpPr>
          <p:spPr>
            <a:xfrm>
              <a:off x="756583" y="904395"/>
              <a:ext cx="37506" cy="13676"/>
            </a:xfrm>
            <a:custGeom>
              <a:rect b="b" l="l" r="r" t="t"/>
              <a:pathLst>
                <a:path extrusionOk="0" h="361" w="99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42"/>
            <p:cNvSpPr/>
            <p:nvPr/>
          </p:nvSpPr>
          <p:spPr>
            <a:xfrm>
              <a:off x="756621" y="939136"/>
              <a:ext cx="37468" cy="13676"/>
            </a:xfrm>
            <a:custGeom>
              <a:rect b="b" l="l" r="r" t="t"/>
              <a:pathLst>
                <a:path extrusionOk="0" h="361" w="989">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42"/>
            <p:cNvSpPr/>
            <p:nvPr/>
          </p:nvSpPr>
          <p:spPr>
            <a:xfrm>
              <a:off x="756583" y="975164"/>
              <a:ext cx="37506" cy="13676"/>
            </a:xfrm>
            <a:custGeom>
              <a:rect b="b" l="l" r="r" t="t"/>
              <a:pathLst>
                <a:path extrusionOk="0" h="361" w="99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42"/>
            <p:cNvSpPr/>
            <p:nvPr/>
          </p:nvSpPr>
          <p:spPr>
            <a:xfrm>
              <a:off x="756621" y="1009905"/>
              <a:ext cx="37468" cy="13676"/>
            </a:xfrm>
            <a:custGeom>
              <a:rect b="b" l="l" r="r" t="t"/>
              <a:pathLst>
                <a:path extrusionOk="0" h="361" w="989">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42"/>
            <p:cNvSpPr/>
            <p:nvPr/>
          </p:nvSpPr>
          <p:spPr>
            <a:xfrm>
              <a:off x="756583" y="1044645"/>
              <a:ext cx="37506" cy="13714"/>
            </a:xfrm>
            <a:custGeom>
              <a:rect b="b" l="l" r="r" t="t"/>
              <a:pathLst>
                <a:path extrusionOk="0" h="362" w="99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42"/>
            <p:cNvSpPr/>
            <p:nvPr/>
          </p:nvSpPr>
          <p:spPr>
            <a:xfrm>
              <a:off x="756621" y="1079424"/>
              <a:ext cx="37468" cy="13676"/>
            </a:xfrm>
            <a:custGeom>
              <a:rect b="b" l="l" r="r" t="t"/>
              <a:pathLst>
                <a:path extrusionOk="0" h="361" w="989">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 name="Google Shape;1683;p42"/>
            <p:cNvSpPr/>
            <p:nvPr/>
          </p:nvSpPr>
          <p:spPr>
            <a:xfrm>
              <a:off x="756621" y="1114202"/>
              <a:ext cx="37468" cy="13639"/>
            </a:xfrm>
            <a:custGeom>
              <a:rect b="b" l="l" r="r" t="t"/>
              <a:pathLst>
                <a:path extrusionOk="0" h="360" w="989">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42"/>
            <p:cNvSpPr/>
            <p:nvPr/>
          </p:nvSpPr>
          <p:spPr>
            <a:xfrm>
              <a:off x="931309" y="834497"/>
              <a:ext cx="43681" cy="84029"/>
            </a:xfrm>
            <a:custGeom>
              <a:rect b="b" l="l" r="r" t="t"/>
              <a:pathLst>
                <a:path extrusionOk="0" h="2218" w="1153">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42"/>
            <p:cNvSpPr/>
            <p:nvPr/>
          </p:nvSpPr>
          <p:spPr>
            <a:xfrm>
              <a:off x="985598" y="837869"/>
              <a:ext cx="34097" cy="77248"/>
            </a:xfrm>
            <a:custGeom>
              <a:rect b="b" l="l" r="r" t="t"/>
              <a:pathLst>
                <a:path extrusionOk="0" h="2039" w="90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42"/>
            <p:cNvSpPr/>
            <p:nvPr/>
          </p:nvSpPr>
          <p:spPr>
            <a:xfrm>
              <a:off x="886605" y="837869"/>
              <a:ext cx="34021" cy="77248"/>
            </a:xfrm>
            <a:custGeom>
              <a:rect b="b" l="l" r="r" t="t"/>
              <a:pathLst>
                <a:path extrusionOk="0" h="2039" w="898">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42"/>
            <p:cNvSpPr/>
            <p:nvPr/>
          </p:nvSpPr>
          <p:spPr>
            <a:xfrm>
              <a:off x="886643" y="939136"/>
              <a:ext cx="173097" cy="13676"/>
            </a:xfrm>
            <a:custGeom>
              <a:rect b="b" l="l" r="r" t="t"/>
              <a:pathLst>
                <a:path extrusionOk="0" h="361" w="4569">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 name="Google Shape;1688;p42"/>
            <p:cNvSpPr/>
            <p:nvPr/>
          </p:nvSpPr>
          <p:spPr>
            <a:xfrm>
              <a:off x="887135" y="975126"/>
              <a:ext cx="44629" cy="13714"/>
            </a:xfrm>
            <a:custGeom>
              <a:rect b="b" l="l" r="r" t="t"/>
              <a:pathLst>
                <a:path extrusionOk="0" h="362" w="1178">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42"/>
            <p:cNvSpPr/>
            <p:nvPr/>
          </p:nvSpPr>
          <p:spPr>
            <a:xfrm>
              <a:off x="954608" y="975164"/>
              <a:ext cx="44591" cy="13676"/>
            </a:xfrm>
            <a:custGeom>
              <a:rect b="b" l="l" r="r" t="t"/>
              <a:pathLst>
                <a:path extrusionOk="0" h="361" w="1177">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42"/>
            <p:cNvSpPr/>
            <p:nvPr/>
          </p:nvSpPr>
          <p:spPr>
            <a:xfrm>
              <a:off x="999199" y="1009943"/>
              <a:ext cx="44553" cy="13676"/>
            </a:xfrm>
            <a:custGeom>
              <a:rect b="b" l="l" r="r" t="t"/>
              <a:pathLst>
                <a:path extrusionOk="0" h="361" w="1176">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42"/>
            <p:cNvSpPr/>
            <p:nvPr/>
          </p:nvSpPr>
          <p:spPr>
            <a:xfrm>
              <a:off x="999199" y="1079424"/>
              <a:ext cx="44553" cy="13676"/>
            </a:xfrm>
            <a:custGeom>
              <a:rect b="b" l="l" r="r" t="t"/>
              <a:pathLst>
                <a:path extrusionOk="0" h="361" w="1176">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42"/>
            <p:cNvSpPr/>
            <p:nvPr/>
          </p:nvSpPr>
          <p:spPr>
            <a:xfrm>
              <a:off x="887741" y="1114202"/>
              <a:ext cx="95432" cy="13639"/>
            </a:xfrm>
            <a:custGeom>
              <a:rect b="b" l="l" r="r" t="t"/>
              <a:pathLst>
                <a:path extrusionOk="0" h="360" w="2519">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42"/>
            <p:cNvSpPr/>
            <p:nvPr/>
          </p:nvSpPr>
          <p:spPr>
            <a:xfrm>
              <a:off x="887741" y="1009943"/>
              <a:ext cx="95394" cy="13676"/>
            </a:xfrm>
            <a:custGeom>
              <a:rect b="b" l="l" r="r" t="t"/>
              <a:pathLst>
                <a:path extrusionOk="0" h="361" w="2518">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42"/>
            <p:cNvSpPr/>
            <p:nvPr/>
          </p:nvSpPr>
          <p:spPr>
            <a:xfrm>
              <a:off x="1059777" y="1009943"/>
              <a:ext cx="95432" cy="13676"/>
            </a:xfrm>
            <a:custGeom>
              <a:rect b="b" l="l" r="r" t="t"/>
              <a:pathLst>
                <a:path extrusionOk="0" h="361" w="2519">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42"/>
            <p:cNvSpPr/>
            <p:nvPr/>
          </p:nvSpPr>
          <p:spPr>
            <a:xfrm>
              <a:off x="886984" y="1044645"/>
              <a:ext cx="32695" cy="13714"/>
            </a:xfrm>
            <a:custGeom>
              <a:rect b="b" l="l" r="r" t="t"/>
              <a:pathLst>
                <a:path extrusionOk="0" h="362" w="863">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42"/>
            <p:cNvSpPr/>
            <p:nvPr/>
          </p:nvSpPr>
          <p:spPr>
            <a:xfrm>
              <a:off x="935325" y="1044645"/>
              <a:ext cx="161996" cy="13714"/>
            </a:xfrm>
            <a:custGeom>
              <a:rect b="b" l="l" r="r" t="t"/>
              <a:pathLst>
                <a:path extrusionOk="0" h="362" w="4276">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42"/>
            <p:cNvSpPr/>
            <p:nvPr/>
          </p:nvSpPr>
          <p:spPr>
            <a:xfrm>
              <a:off x="887741" y="1079424"/>
              <a:ext cx="95394" cy="13676"/>
            </a:xfrm>
            <a:custGeom>
              <a:rect b="b" l="l" r="r" t="t"/>
              <a:pathLst>
                <a:path extrusionOk="0" h="361" w="2518">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8" name="Google Shape;1698;p42"/>
          <p:cNvGrpSpPr/>
          <p:nvPr/>
        </p:nvGrpSpPr>
        <p:grpSpPr>
          <a:xfrm>
            <a:off x="3677207" y="1855441"/>
            <a:ext cx="341661" cy="290896"/>
            <a:chOff x="2335403" y="748460"/>
            <a:chExt cx="477313" cy="406392"/>
          </a:xfrm>
        </p:grpSpPr>
        <p:sp>
          <p:nvSpPr>
            <p:cNvPr id="1699" name="Google Shape;1699;p42"/>
            <p:cNvSpPr/>
            <p:nvPr/>
          </p:nvSpPr>
          <p:spPr>
            <a:xfrm>
              <a:off x="2419697" y="928793"/>
              <a:ext cx="35044" cy="13676"/>
            </a:xfrm>
            <a:custGeom>
              <a:rect b="b" l="l" r="r" t="t"/>
              <a:pathLst>
                <a:path extrusionOk="0" h="361" w="925">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42"/>
            <p:cNvSpPr/>
            <p:nvPr/>
          </p:nvSpPr>
          <p:spPr>
            <a:xfrm>
              <a:off x="2466106" y="928793"/>
              <a:ext cx="51713" cy="13676"/>
            </a:xfrm>
            <a:custGeom>
              <a:rect b="b" l="l" r="r" t="t"/>
              <a:pathLst>
                <a:path extrusionOk="0" h="361" w="1365">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42"/>
            <p:cNvSpPr/>
            <p:nvPr/>
          </p:nvSpPr>
          <p:spPr>
            <a:xfrm>
              <a:off x="2420152" y="900266"/>
              <a:ext cx="80354" cy="13676"/>
            </a:xfrm>
            <a:custGeom>
              <a:rect b="b" l="l" r="r" t="t"/>
              <a:pathLst>
                <a:path extrusionOk="0" h="361" w="2121">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42"/>
            <p:cNvSpPr/>
            <p:nvPr/>
          </p:nvSpPr>
          <p:spPr>
            <a:xfrm>
              <a:off x="2419659" y="871700"/>
              <a:ext cx="35044" cy="13676"/>
            </a:xfrm>
            <a:custGeom>
              <a:rect b="b" l="l" r="r" t="t"/>
              <a:pathLst>
                <a:path extrusionOk="0" h="361" w="925">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42"/>
            <p:cNvSpPr/>
            <p:nvPr/>
          </p:nvSpPr>
          <p:spPr>
            <a:xfrm>
              <a:off x="2466485" y="871700"/>
              <a:ext cx="84597" cy="13676"/>
            </a:xfrm>
            <a:custGeom>
              <a:rect b="b" l="l" r="r" t="t"/>
              <a:pathLst>
                <a:path extrusionOk="0" h="361" w="2233">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42"/>
            <p:cNvSpPr/>
            <p:nvPr/>
          </p:nvSpPr>
          <p:spPr>
            <a:xfrm>
              <a:off x="2428714" y="978953"/>
              <a:ext cx="61828" cy="72171"/>
            </a:xfrm>
            <a:custGeom>
              <a:rect b="b" l="l" r="r" t="t"/>
              <a:pathLst>
                <a:path extrusionOk="0" h="1905" w="1632">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42"/>
            <p:cNvSpPr/>
            <p:nvPr/>
          </p:nvSpPr>
          <p:spPr>
            <a:xfrm>
              <a:off x="2492701" y="998388"/>
              <a:ext cx="48265" cy="52660"/>
            </a:xfrm>
            <a:custGeom>
              <a:rect b="b" l="l" r="r" t="t"/>
              <a:pathLst>
                <a:path extrusionOk="0" h="1390" w="1274">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42"/>
            <p:cNvSpPr/>
            <p:nvPr/>
          </p:nvSpPr>
          <p:spPr>
            <a:xfrm>
              <a:off x="2597264" y="977437"/>
              <a:ext cx="36635" cy="75164"/>
            </a:xfrm>
            <a:custGeom>
              <a:rect b="b" l="l" r="r" t="t"/>
              <a:pathLst>
                <a:path extrusionOk="0" h="1984" w="967">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42"/>
            <p:cNvSpPr/>
            <p:nvPr/>
          </p:nvSpPr>
          <p:spPr>
            <a:xfrm>
              <a:off x="2692507" y="977513"/>
              <a:ext cx="36673" cy="75126"/>
            </a:xfrm>
            <a:custGeom>
              <a:rect b="b" l="l" r="r" t="t"/>
              <a:pathLst>
                <a:path extrusionOk="0" h="1983" w="968">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42"/>
            <p:cNvSpPr/>
            <p:nvPr/>
          </p:nvSpPr>
          <p:spPr>
            <a:xfrm>
              <a:off x="2643749" y="978536"/>
              <a:ext cx="39249" cy="72891"/>
            </a:xfrm>
            <a:custGeom>
              <a:rect b="b" l="l" r="r" t="t"/>
              <a:pathLst>
                <a:path extrusionOk="0" h="1924" w="1036">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42"/>
            <p:cNvSpPr/>
            <p:nvPr/>
          </p:nvSpPr>
          <p:spPr>
            <a:xfrm>
              <a:off x="2335403" y="748460"/>
              <a:ext cx="477313" cy="406392"/>
            </a:xfrm>
            <a:custGeom>
              <a:rect b="b" l="l" r="r" t="t"/>
              <a:pathLst>
                <a:path extrusionOk="0" h="10727" w="12599">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42"/>
            <p:cNvSpPr/>
            <p:nvPr/>
          </p:nvSpPr>
          <p:spPr>
            <a:xfrm>
              <a:off x="2716147" y="788278"/>
              <a:ext cx="60540" cy="53418"/>
            </a:xfrm>
            <a:custGeom>
              <a:rect b="b" l="l" r="r" t="t"/>
              <a:pathLst>
                <a:path extrusionOk="0" h="1410" w="1598">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1" name="Google Shape;1711;p42"/>
          <p:cNvGrpSpPr/>
          <p:nvPr/>
        </p:nvGrpSpPr>
        <p:grpSpPr>
          <a:xfrm>
            <a:off x="6542379" y="1830303"/>
            <a:ext cx="340332" cy="341173"/>
            <a:chOff x="1558836" y="713303"/>
            <a:chExt cx="475457" cy="476631"/>
          </a:xfrm>
        </p:grpSpPr>
        <p:sp>
          <p:nvSpPr>
            <p:cNvPr id="1712" name="Google Shape;1712;p42"/>
            <p:cNvSpPr/>
            <p:nvPr/>
          </p:nvSpPr>
          <p:spPr>
            <a:xfrm>
              <a:off x="1611458" y="819874"/>
              <a:ext cx="39855" cy="85128"/>
            </a:xfrm>
            <a:custGeom>
              <a:rect b="b" l="l" r="r" t="t"/>
              <a:pathLst>
                <a:path extrusionOk="0" h="2247" w="1052">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42"/>
            <p:cNvSpPr/>
            <p:nvPr/>
          </p:nvSpPr>
          <p:spPr>
            <a:xfrm>
              <a:off x="1874873" y="849235"/>
              <a:ext cx="39817" cy="85165"/>
            </a:xfrm>
            <a:custGeom>
              <a:rect b="b" l="l" r="r" t="t"/>
              <a:pathLst>
                <a:path extrusionOk="0" h="2248" w="1051">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42"/>
            <p:cNvSpPr/>
            <p:nvPr/>
          </p:nvSpPr>
          <p:spPr>
            <a:xfrm>
              <a:off x="1673476" y="818813"/>
              <a:ext cx="36067" cy="13639"/>
            </a:xfrm>
            <a:custGeom>
              <a:rect b="b" l="l" r="r" t="t"/>
              <a:pathLst>
                <a:path extrusionOk="0" h="360" w="952">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42"/>
            <p:cNvSpPr/>
            <p:nvPr/>
          </p:nvSpPr>
          <p:spPr>
            <a:xfrm>
              <a:off x="1674348" y="966489"/>
              <a:ext cx="113011" cy="13676"/>
            </a:xfrm>
            <a:custGeom>
              <a:rect b="b" l="l" r="r" t="t"/>
              <a:pathLst>
                <a:path extrusionOk="0" h="361" w="2983">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42"/>
            <p:cNvSpPr/>
            <p:nvPr/>
          </p:nvSpPr>
          <p:spPr>
            <a:xfrm>
              <a:off x="1673476" y="878368"/>
              <a:ext cx="36067" cy="13639"/>
            </a:xfrm>
            <a:custGeom>
              <a:rect b="b" l="l" r="r" t="t"/>
              <a:pathLst>
                <a:path extrusionOk="0" h="360" w="952">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42"/>
            <p:cNvSpPr/>
            <p:nvPr/>
          </p:nvSpPr>
          <p:spPr>
            <a:xfrm>
              <a:off x="1673476" y="906933"/>
              <a:ext cx="36067" cy="13676"/>
            </a:xfrm>
            <a:custGeom>
              <a:rect b="b" l="l" r="r" t="t"/>
              <a:pathLst>
                <a:path extrusionOk="0" h="361" w="952">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42"/>
            <p:cNvSpPr/>
            <p:nvPr/>
          </p:nvSpPr>
          <p:spPr>
            <a:xfrm>
              <a:off x="1771901" y="936673"/>
              <a:ext cx="25156" cy="13714"/>
            </a:xfrm>
            <a:custGeom>
              <a:rect b="b" l="l" r="r" t="t"/>
              <a:pathLst>
                <a:path extrusionOk="0" h="362" w="664">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42"/>
            <p:cNvSpPr/>
            <p:nvPr/>
          </p:nvSpPr>
          <p:spPr>
            <a:xfrm>
              <a:off x="1673931" y="936673"/>
              <a:ext cx="78801" cy="13714"/>
            </a:xfrm>
            <a:custGeom>
              <a:rect b="b" l="l" r="r" t="t"/>
              <a:pathLst>
                <a:path extrusionOk="0" h="362" w="208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42"/>
            <p:cNvSpPr/>
            <p:nvPr/>
          </p:nvSpPr>
          <p:spPr>
            <a:xfrm>
              <a:off x="1728447" y="878368"/>
              <a:ext cx="36029" cy="13639"/>
            </a:xfrm>
            <a:custGeom>
              <a:rect b="b" l="l" r="r" t="t"/>
              <a:pathLst>
                <a:path extrusionOk="0" h="360" w="951">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42"/>
            <p:cNvSpPr/>
            <p:nvPr/>
          </p:nvSpPr>
          <p:spPr>
            <a:xfrm>
              <a:off x="1778152" y="878330"/>
              <a:ext cx="75429" cy="13639"/>
            </a:xfrm>
            <a:custGeom>
              <a:rect b="b" l="l" r="r" t="t"/>
              <a:pathLst>
                <a:path extrusionOk="0" h="360" w="1991">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42"/>
            <p:cNvSpPr/>
            <p:nvPr/>
          </p:nvSpPr>
          <p:spPr>
            <a:xfrm>
              <a:off x="1729773" y="818699"/>
              <a:ext cx="164383" cy="13714"/>
            </a:xfrm>
            <a:custGeom>
              <a:rect b="b" l="l" r="r" t="t"/>
              <a:pathLst>
                <a:path extrusionOk="0" h="362" w="4339">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42"/>
            <p:cNvSpPr/>
            <p:nvPr/>
          </p:nvSpPr>
          <p:spPr>
            <a:xfrm>
              <a:off x="1673097" y="848553"/>
              <a:ext cx="182000" cy="13639"/>
            </a:xfrm>
            <a:custGeom>
              <a:rect b="b" l="l" r="r" t="t"/>
              <a:pathLst>
                <a:path extrusionOk="0" h="360" w="4804">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42"/>
            <p:cNvSpPr/>
            <p:nvPr/>
          </p:nvSpPr>
          <p:spPr>
            <a:xfrm>
              <a:off x="1558836" y="713303"/>
              <a:ext cx="475457" cy="476631"/>
            </a:xfrm>
            <a:custGeom>
              <a:rect b="b" l="l" r="r" t="t"/>
              <a:pathLst>
                <a:path extrusionOk="0" h="12581" w="1255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42"/>
            <p:cNvSpPr/>
            <p:nvPr/>
          </p:nvSpPr>
          <p:spPr>
            <a:xfrm>
              <a:off x="1906431" y="1036614"/>
              <a:ext cx="48341" cy="63760"/>
            </a:xfrm>
            <a:custGeom>
              <a:rect b="b" l="l" r="r" t="t"/>
              <a:pathLst>
                <a:path extrusionOk="0" h="1683" w="1276">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42"/>
            <p:cNvSpPr/>
            <p:nvPr/>
          </p:nvSpPr>
          <p:spPr>
            <a:xfrm>
              <a:off x="1857976" y="1035970"/>
              <a:ext cx="42128" cy="65200"/>
            </a:xfrm>
            <a:custGeom>
              <a:rect b="b" l="l" r="r" t="t"/>
              <a:pathLst>
                <a:path extrusionOk="0" h="1721" w="1112">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42"/>
            <p:cNvSpPr/>
            <p:nvPr/>
          </p:nvSpPr>
          <p:spPr>
            <a:xfrm>
              <a:off x="1964433" y="1035932"/>
              <a:ext cx="42962" cy="65200"/>
            </a:xfrm>
            <a:custGeom>
              <a:rect b="b" l="l" r="r" t="t"/>
              <a:pathLst>
                <a:path extrusionOk="0" h="1721" w="1134">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Khác biệt về bài toán</a:t>
            </a:r>
          </a:p>
        </p:txBody>
      </p:sp>
      <p:graphicFrame>
        <p:nvGraphicFramePr>
          <p:cNvPr id="1531" name="Table 1530"/>
          <p:cNvGraphicFramePr>
            <a:graphicFrameLocks noGrp="1"/>
          </p:cNvGraphicFramePr>
          <p:nvPr/>
        </p:nvGraphicFramePr>
        <p:xfrm>
          <a:off x="722376" y="1188720"/>
          <a:ext cx="7708392" cy="3145536"/>
        </p:xfrm>
        <a:graphic>
          <a:graphicData uri="http://schemas.openxmlformats.org/drawingml/2006/table">
            <a:tbl>
              <a:tblPr firstRow="0" bandRow="0">
                <a:tableStyleId>{5C22544A-7EE6-4342-B048-85BDC9FD1C3A}</a:tableStyleId>
              </a:tblPr>
              <a:tblGrid>
                <a:gridCol w="1234440"/>
                <a:gridCol w="2743200"/>
                <a:gridCol w="3730752"/>
              </a:tblGrid>
              <a:tr h="393192">
                <a:tc>
                  <a:txBody>
                    <a:bodyPr wrap="square"/>
                    <a:lstStyle/>
                    <a:p>
                      <a:r>
                        <a:rPr sz="1000" b="1">
                          <a:solidFill>
                            <a:srgbClr val="FFFFFF"/>
                          </a:solidFill>
                          <a:latin typeface="IBM Plex Mono"/>
                        </a:rPr>
                        <a:t/>
                      </a:r>
                    </a:p>
                  </a:txBody>
                  <a:tcPr marL="64008" marR="64008" marT="27432" marB="27432" anchor="ctr">
                    <a:solidFill>
                      <a:srgbClr val="0C0A9E"/>
                    </a:solidFill>
                  </a:tcPr>
                </a:tc>
                <a:tc>
                  <a:txBody>
                    <a:bodyPr wrap="square"/>
                    <a:lstStyle/>
                    <a:p>
                      <a:r>
                        <a:rPr sz="1000" b="1">
                          <a:solidFill>
                            <a:srgbClr val="FFFFFF"/>
                          </a:solidFill>
                          <a:latin typeface="IBM Plex Mono"/>
                        </a:rPr>
                        <a:t>Huang et al. (DDATSAP)</a:t>
                      </a:r>
                    </a:p>
                  </a:txBody>
                  <a:tcPr marL="64008" marR="64008" marT="27432" marB="27432" anchor="ctr">
                    <a:solidFill>
                      <a:srgbClr val="0C0A9E"/>
                    </a:solidFill>
                  </a:tcPr>
                </a:tc>
                <a:tc>
                  <a:txBody>
                    <a:bodyPr wrap="square"/>
                    <a:lstStyle/>
                    <a:p>
                      <a:r>
                        <a:rPr sz="1000" b="1">
                          <a:solidFill>
                            <a:srgbClr val="FFFFFF"/>
                          </a:solidFill>
                          <a:latin typeface="IBM Plex Mono"/>
                        </a:rPr>
                        <a:t>Bài của nhóm</a:t>
                      </a:r>
                    </a:p>
                  </a:txBody>
                  <a:tcPr marL="64008" marR="64008" marT="27432" marB="27432" anchor="ctr">
                    <a:solidFill>
                      <a:srgbClr val="0C0A9E"/>
                    </a:solidFill>
                  </a:tcPr>
                </a:tc>
              </a:tr>
              <a:tr h="393192">
                <a:tc>
                  <a:txBody>
                    <a:bodyPr wrap="square"/>
                    <a:lstStyle/>
                    <a:p>
                      <a:r>
                        <a:rPr sz="1000" b="1">
                          <a:solidFill>
                            <a:srgbClr val="0C0A9E"/>
                          </a:solidFill>
                          <a:latin typeface="IBM Plex Mono"/>
                        </a:rPr>
                        <a:t>Objective</a:t>
                      </a:r>
                    </a:p>
                  </a:txBody>
                  <a:tcPr marL="64008" marR="64008" marT="27432" marB="27432" anchor="ctr">
                    <a:solidFill>
                      <a:srgbClr val="FFFFFF"/>
                    </a:solidFill>
                  </a:tcPr>
                </a:tc>
                <a:tc>
                  <a:txBody>
                    <a:bodyPr wrap="square"/>
                    <a:lstStyle/>
                    <a:p>
                      <a:r>
                        <a:rPr sz="1000" b="0">
                          <a:solidFill>
                            <a:srgbClr val="1D1D1D"/>
                          </a:solidFill>
                          <a:latin typeface="Be Vietnam Pro"/>
                        </a:rPr>
                        <a:t>Max-min average rate</a:t>
                      </a:r>
                    </a:p>
                  </a:txBody>
                  <a:tcPr marL="64008" marR="64008" marT="27432" marB="27432" anchor="ctr">
                    <a:solidFill>
                      <a:srgbClr val="FFFFFF"/>
                    </a:solidFill>
                  </a:tcPr>
                </a:tc>
                <a:tc>
                  <a:txBody>
                    <a:bodyPr wrap="square"/>
                    <a:lstStyle/>
                    <a:p>
                      <a:r>
                        <a:rPr sz="1000" b="1">
                          <a:solidFill>
                            <a:srgbClr val="1D1D1D"/>
                          </a:solidFill>
                          <a:latin typeface="Be Vietnam Pro"/>
                        </a:rPr>
                        <a:t>Timely-delivery ratio</a:t>
                      </a:r>
                      <a:r>
                        <a:rPr sz="1000" b="0">
                          <a:solidFill>
                            <a:srgbClr val="1D1D1D"/>
                          </a:solidFill>
                          <a:latin typeface="Be Vietnam Pro"/>
                        </a:rPr>
                        <a:t> (lex: P̂, Conn, shortfall)</a:t>
                      </a:r>
                    </a:p>
                  </a:txBody>
                  <a:tcPr marL="64008" marR="64008" marT="27432" marB="27432" anchor="ctr">
                    <a:solidFill>
                      <a:srgbClr val="E6E5FC"/>
                    </a:solidFill>
                  </a:tcPr>
                </a:tc>
              </a:tr>
              <a:tr h="393192">
                <a:tc>
                  <a:txBody>
                    <a:bodyPr wrap="square"/>
                    <a:lstStyle/>
                    <a:p>
                      <a:r>
                        <a:rPr sz="1000" b="1">
                          <a:solidFill>
                            <a:srgbClr val="0C0A9E"/>
                          </a:solidFill>
                          <a:latin typeface="IBM Plex Mono"/>
                        </a:rPr>
                        <a:t>Traffic</a:t>
                      </a:r>
                    </a:p>
                  </a:txBody>
                  <a:tcPr marL="64008" marR="64008" marT="27432" marB="27432" anchor="ctr">
                    <a:solidFill>
                      <a:srgbClr val="FFFFFF"/>
                    </a:solidFill>
                  </a:tcPr>
                </a:tc>
                <a:tc>
                  <a:txBody>
                    <a:bodyPr wrap="square"/>
                    <a:lstStyle/>
                    <a:p>
                      <a:r>
                        <a:rPr sz="1000" b="0">
                          <a:solidFill>
                            <a:srgbClr val="1D1D1D"/>
                          </a:solidFill>
                          <a:latin typeface="Be Vietnam Pro"/>
                        </a:rPr>
                        <a:t>Luồng liên tục giữa user pair</a:t>
                      </a:r>
                    </a:p>
                  </a:txBody>
                  <a:tcPr marL="64008" marR="64008" marT="27432" marB="27432" anchor="ctr">
                    <a:solidFill>
                      <a:srgbClr val="FFFFFF"/>
                    </a:solidFill>
                  </a:tcPr>
                </a:tc>
                <a:tc>
                  <a:txBody>
                    <a:bodyPr wrap="square"/>
                    <a:lstStyle/>
                    <a:p>
                      <a:r>
                        <a:rPr sz="1000" b="0">
                          <a:solidFill>
                            <a:srgbClr val="1D1D1D"/>
                          </a:solidFill>
                          <a:latin typeface="Be Vietnam Pro"/>
                        </a:rPr>
                        <a:t>Alert có release, deadline, size</a:t>
                      </a:r>
                    </a:p>
                  </a:txBody>
                  <a:tcPr marL="64008" marR="64008" marT="27432" marB="27432" anchor="ctr">
                    <a:solidFill>
                      <a:srgbClr val="E6E5FC"/>
                    </a:solidFill>
                  </a:tcPr>
                </a:tc>
              </a:tr>
              <a:tr h="393192">
                <a:tc>
                  <a:txBody>
                    <a:bodyPr wrap="square"/>
                    <a:lstStyle/>
                    <a:p>
                      <a:r>
                        <a:rPr sz="1000" b="1">
                          <a:solidFill>
                            <a:srgbClr val="0C0A9E"/>
                          </a:solidFill>
                          <a:latin typeface="IBM Plex Mono"/>
                        </a:rPr>
                        <a:t>Network</a:t>
                      </a:r>
                    </a:p>
                  </a:txBody>
                  <a:tcPr marL="64008" marR="64008" marT="27432" marB="27432" anchor="ctr">
                    <a:solidFill>
                      <a:srgbClr val="FFFFFF"/>
                    </a:solidFill>
                  </a:tcPr>
                </a:tc>
                <a:tc>
                  <a:txBody>
                    <a:bodyPr wrap="square"/>
                    <a:lstStyle/>
                    <a:p>
                      <a:r>
                        <a:rPr sz="1000" b="0">
                          <a:solidFill>
                            <a:srgbClr val="1D1D1D"/>
                          </a:solidFill>
                          <a:latin typeface="Be Vietnam Pro"/>
                        </a:rPr>
                        <a:t>Chỉ UAV, two-way relay</a:t>
                      </a:r>
                    </a:p>
                  </a:txBody>
                  <a:tcPr marL="64008" marR="64008" marT="27432" marB="27432" anchor="ctr">
                    <a:solidFill>
                      <a:srgbClr val="FFFFFF"/>
                    </a:solidFill>
                  </a:tcPr>
                </a:tc>
                <a:tc>
                  <a:txBody>
                    <a:bodyPr wrap="square"/>
                    <a:lstStyle/>
                    <a:p>
                      <a:r>
                        <a:rPr sz="1000" b="0">
                          <a:solidFill>
                            <a:srgbClr val="1D1D1D"/>
                          </a:solidFill>
                          <a:latin typeface="Be Vietnam Pro"/>
                        </a:rPr>
                        <a:t>UAV + ground relay network, backhaul hữu hạn</a:t>
                      </a:r>
                    </a:p>
                  </a:txBody>
                  <a:tcPr marL="64008" marR="64008" marT="27432" marB="27432" anchor="ctr">
                    <a:solidFill>
                      <a:srgbClr val="E6E5FC"/>
                    </a:solidFill>
                  </a:tcPr>
                </a:tc>
              </a:tr>
              <a:tr h="393192">
                <a:tc>
                  <a:txBody>
                    <a:bodyPr wrap="square"/>
                    <a:lstStyle/>
                    <a:p>
                      <a:r>
                        <a:rPr sz="1000" b="1">
                          <a:solidFill>
                            <a:srgbClr val="0C0A9E"/>
                          </a:solidFill>
                          <a:latin typeface="IBM Plex Mono"/>
                        </a:rPr>
                        <a:t>Decisions</a:t>
                      </a:r>
                    </a:p>
                  </a:txBody>
                  <a:tcPr marL="64008" marR="64008" marT="27432" marB="27432" anchor="ctr">
                    <a:solidFill>
                      <a:srgbClr val="FFFFFF"/>
                    </a:solidFill>
                  </a:tcPr>
                </a:tc>
                <a:tc>
                  <a:txBody>
                    <a:bodyPr wrap="square"/>
                    <a:lstStyle/>
                    <a:p>
                      <a:r>
                        <a:rPr sz="1000" b="0">
                          <a:solidFill>
                            <a:srgbClr val="1D1D1D"/>
                          </a:solidFill>
                          <a:latin typeface="Be Vietnam Pro"/>
                        </a:rPr>
                        <a:t>RSF, transmit power, trajectory</a:t>
                      </a:r>
                    </a:p>
                  </a:txBody>
                  <a:tcPr marL="64008" marR="64008" marT="27432" marB="27432" anchor="ctr">
                    <a:solidFill>
                      <a:srgbClr val="FFFFFF"/>
                    </a:solidFill>
                  </a:tcPr>
                </a:tc>
                <a:tc>
                  <a:txBody>
                    <a:bodyPr wrap="square"/>
                    <a:lstStyle/>
                    <a:p>
                      <a:r>
                        <a:rPr sz="1000" b="0">
                          <a:solidFill>
                            <a:srgbClr val="1D1D1D"/>
                          </a:solidFill>
                          <a:latin typeface="Be Vietnam Pro"/>
                        </a:rPr>
                        <a:t>Relay path, bandwidth weight, trajectory</a:t>
                      </a:r>
                    </a:p>
                  </a:txBody>
                  <a:tcPr marL="64008" marR="64008" marT="27432" marB="27432" anchor="ctr">
                    <a:solidFill>
                      <a:srgbClr val="E6E5FC"/>
                    </a:solidFill>
                  </a:tcPr>
                </a:tc>
              </a:tr>
              <a:tr h="393192">
                <a:tc>
                  <a:txBody>
                    <a:bodyPr wrap="square"/>
                    <a:lstStyle/>
                    <a:p>
                      <a:r>
                        <a:rPr sz="1000" b="1">
                          <a:solidFill>
                            <a:srgbClr val="0C0A9E"/>
                          </a:solidFill>
                          <a:latin typeface="IBM Plex Mono"/>
                        </a:rPr>
                        <a:t>Channel</a:t>
                      </a:r>
                    </a:p>
                  </a:txBody>
                  <a:tcPr marL="64008" marR="64008" marT="27432" marB="27432" anchor="ctr">
                    <a:solidFill>
                      <a:srgbClr val="FFFFFF"/>
                    </a:solidFill>
                  </a:tcPr>
                </a:tc>
                <a:tc>
                  <a:txBody>
                    <a:bodyPr wrap="square"/>
                    <a:lstStyle/>
                    <a:p>
                      <a:r>
                        <a:rPr sz="1000" b="0">
                          <a:solidFill>
                            <a:srgbClr val="1D1D1D"/>
                          </a:solidFill>
                          <a:latin typeface="Be Vietnam Pro"/>
                        </a:rPr>
                        <a:t>PrLoS, dùng expected rate</a:t>
                      </a:r>
                    </a:p>
                  </a:txBody>
                  <a:tcPr marL="64008" marR="64008" marT="27432" marB="27432" anchor="ctr">
                    <a:solidFill>
                      <a:srgbClr val="FFFFFF"/>
                    </a:solidFill>
                  </a:tcPr>
                </a:tc>
                <a:tc>
                  <a:txBody>
                    <a:bodyPr wrap="square"/>
                    <a:lstStyle/>
                    <a:p>
                      <a:r>
                        <a:rPr sz="1000" b="0">
                          <a:solidFill>
                            <a:srgbClr val="1D1D1D"/>
                          </a:solidFill>
                          <a:latin typeface="Be Vietnam Pro"/>
                        </a:rPr>
                        <a:t>PrLoS, chấm trên sampled realizations</a:t>
                      </a:r>
                    </a:p>
                  </a:txBody>
                  <a:tcPr marL="64008" marR="64008" marT="27432" marB="27432" anchor="ctr">
                    <a:solidFill>
                      <a:srgbClr val="E6E5FC"/>
                    </a:solidFill>
                  </a:tcPr>
                </a:tc>
              </a:tr>
              <a:tr h="393192">
                <a:tc>
                  <a:txBody>
                    <a:bodyPr wrap="square"/>
                    <a:lstStyle/>
                    <a:p>
                      <a:r>
                        <a:rPr sz="1000" b="1">
                          <a:solidFill>
                            <a:srgbClr val="0C0A9E"/>
                          </a:solidFill>
                          <a:latin typeface="IBM Plex Mono"/>
                        </a:rPr>
                        <a:t>Method</a:t>
                      </a:r>
                    </a:p>
                  </a:txBody>
                  <a:tcPr marL="64008" marR="64008" marT="27432" marB="27432" anchor="ctr">
                    <a:solidFill>
                      <a:srgbClr val="FFFFFF"/>
                    </a:solidFill>
                  </a:tcPr>
                </a:tc>
                <a:tc>
                  <a:txBody>
                    <a:bodyPr wrap="square"/>
                    <a:lstStyle/>
                    <a:p>
                      <a:r>
                        <a:rPr sz="1000" b="0">
                          <a:solidFill>
                            <a:srgbClr val="1D1D1D"/>
                          </a:solidFill>
                          <a:latin typeface="Be Vietnam Pro"/>
                        </a:rPr>
                        <a:t>BCD + SCA</a:t>
                      </a:r>
                    </a:p>
                  </a:txBody>
                  <a:tcPr marL="64008" marR="64008" marT="27432" marB="27432" anchor="ctr">
                    <a:solidFill>
                      <a:srgbClr val="FFFFFF"/>
                    </a:solidFill>
                  </a:tcPr>
                </a:tc>
                <a:tc>
                  <a:txBody>
                    <a:bodyPr wrap="square"/>
                    <a:lstStyle/>
                    <a:p>
                      <a:r>
                        <a:rPr sz="1000" b="0">
                          <a:solidFill>
                            <a:srgbClr val="1D1D1D"/>
                          </a:solidFill>
                          <a:latin typeface="Be Vietnam Pro"/>
                        </a:rPr>
                        <a:t>Sample-scored block search (SBS)</a:t>
                      </a:r>
                    </a:p>
                  </a:txBody>
                  <a:tcPr marL="64008" marR="64008" marT="27432" marB="27432" anchor="ctr">
                    <a:solidFill>
                      <a:srgbClr val="E6E5FC"/>
                    </a:solidFill>
                  </a:tcPr>
                </a:tc>
              </a:tr>
              <a:tr h="393192">
                <a:tc>
                  <a:txBody>
                    <a:bodyPr wrap="square"/>
                    <a:lstStyle/>
                    <a:p>
                      <a:r>
                        <a:rPr sz="1000" b="1">
                          <a:solidFill>
                            <a:srgbClr val="0C0A9E"/>
                          </a:solidFill>
                          <a:latin typeface="IBM Plex Mono"/>
                        </a:rPr>
                        <a:t>Evaluation</a:t>
                      </a:r>
                    </a:p>
                  </a:txBody>
                  <a:tcPr marL="64008" marR="64008" marT="27432" marB="27432" anchor="ctr">
                    <a:solidFill>
                      <a:srgbClr val="FFFFFF"/>
                    </a:solidFill>
                  </a:tcPr>
                </a:tc>
                <a:tc>
                  <a:txBody>
                    <a:bodyPr wrap="square"/>
                    <a:lstStyle/>
                    <a:p>
                      <a:r>
                        <a:rPr sz="1000" b="0">
                          <a:solidFill>
                            <a:srgbClr val="1D1D1D"/>
                          </a:solidFill>
                          <a:latin typeface="Be Vietnam Pro"/>
                        </a:rPr>
                        <a:t>Simulation, vài user pair</a:t>
                      </a:r>
                    </a:p>
                  </a:txBody>
                  <a:tcPr marL="64008" marR="64008" marT="27432" marB="27432" anchor="ctr">
                    <a:solidFill>
                      <a:srgbClr val="FFFFFF"/>
                    </a:solidFill>
                  </a:tcPr>
                </a:tc>
                <a:tc>
                  <a:txBody>
                    <a:bodyPr wrap="square"/>
                    <a:lstStyle/>
                    <a:p>
                      <a:r>
                        <a:rPr sz="1000" b="0">
                          <a:solidFill>
                            <a:srgbClr val="1D1D1D"/>
                          </a:solidFill>
                          <a:latin typeface="Be Vietnam Pro"/>
                        </a:rPr>
                        <a:t>10 topologies, RescueNet, paired tests, LP bound</a:t>
                      </a:r>
                    </a:p>
                  </a:txBody>
                  <a:tcPr marL="64008" marR="64008" marT="27432" marB="27432" anchor="ctr">
                    <a:solidFill>
                      <a:srgbClr val="E6E5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1" name="Shape 1731"/>
        <p:cNvGrpSpPr/>
        <p:nvPr/>
      </p:nvGrpSpPr>
      <p:grpSpPr>
        <a:xfrm>
          <a:off x="0" y="0"/>
          <a:ext cx="0" cy="0"/>
          <a:chOff x="0" y="0"/>
          <a:chExt cx="0" cy="0"/>
        </a:xfrm>
      </p:grpSpPr>
      <p:sp>
        <p:nvSpPr>
          <p:cNvPr id="1732" name="Google Shape;1732;p43"/>
          <p:cNvSpPr txBox="1"/>
          <p:nvPr>
            <p:ph idx="2" type="subTitle"/>
          </p:nvPr>
        </p:nvSpPr>
        <p:spPr>
          <a:xfrm>
            <a:off x="5237152" y="1935218"/>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UAV decode-and-forward có buffer, tôn trọng information causality</a:t>
            </a:r>
          </a:p>
        </p:txBody>
      </p:sp>
      <p:sp>
        <p:nvSpPr>
          <p:cNvPr id="1733" name="Google Shape;1733;p43"/>
          <p:cNvSpPr txBox="1"/>
          <p:nvPr>
            <p:ph idx="8" type="subTitle"/>
          </p:nvPr>
        </p:nvSpPr>
        <p:spPr>
          <a:xfrm>
            <a:off x="5237150" y="3231981"/>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Three-block BCD</a:t>
            </a:r>
          </a:p>
        </p:txBody>
      </p:sp>
      <p:sp>
        <p:nvSpPr>
          <p:cNvPr id="1734" name="Google Shape;1734;p4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Kế thừa từ paper gốc</a:t>
            </a:r>
          </a:p>
        </p:txBody>
      </p:sp>
      <p:sp>
        <p:nvSpPr>
          <p:cNvPr id="1735" name="Google Shape;1735;p43"/>
          <p:cNvSpPr txBox="1"/>
          <p:nvPr>
            <p:ph idx="5" type="subTitle"/>
          </p:nvPr>
        </p:nvSpPr>
        <p:spPr>
          <a:xfrm>
            <a:off x="1804750" y="1605775"/>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PrLoS channel</a:t>
            </a:r>
          </a:p>
        </p:txBody>
      </p:sp>
      <p:sp>
        <p:nvSpPr>
          <p:cNvPr id="1736" name="Google Shape;1736;p43"/>
          <p:cNvSpPr txBox="1"/>
          <p:nvPr>
            <p:ph idx="6" type="subTitle"/>
          </p:nvPr>
        </p:nvSpPr>
        <p:spPr>
          <a:xfrm>
            <a:off x="5237150" y="1605775"/>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DF relay + buffer</a:t>
            </a:r>
          </a:p>
        </p:txBody>
      </p:sp>
      <p:sp>
        <p:nvSpPr>
          <p:cNvPr id="1737" name="Google Shape;1737;p43"/>
          <p:cNvSpPr txBox="1"/>
          <p:nvPr>
            <p:ph idx="3" type="subTitle"/>
          </p:nvPr>
        </p:nvSpPr>
        <p:spPr>
          <a:xfrm>
            <a:off x="1804750" y="3561374"/>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Độ cao H cố định, tốc độ ≤ V_max, điểm xuất phát và kết thúc cho trước</a:t>
            </a:r>
          </a:p>
        </p:txBody>
      </p:sp>
      <p:sp>
        <p:nvSpPr>
          <p:cNvPr id="1738" name="Google Shape;1738;p43"/>
          <p:cNvSpPr txBox="1"/>
          <p:nvPr>
            <p:ph idx="4" type="subTitle"/>
          </p:nvPr>
        </p:nvSpPr>
        <p:spPr>
          <a:xfrm>
            <a:off x="5237152" y="3561374"/>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Giữ cấu trúc 3 khối luân phiên: path, bandwidth, trajectory</a:t>
            </a:r>
          </a:p>
        </p:txBody>
      </p:sp>
      <p:sp>
        <p:nvSpPr>
          <p:cNvPr id="1739" name="Google Shape;1739;p43"/>
          <p:cNvSpPr txBox="1"/>
          <p:nvPr>
            <p:ph idx="7" type="subTitle"/>
          </p:nvPr>
        </p:nvSpPr>
        <p:spPr>
          <a:xfrm>
            <a:off x="1804750" y="3231981"/>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Mobility model</a:t>
            </a:r>
          </a:p>
        </p:txBody>
      </p:sp>
      <p:sp>
        <p:nvSpPr>
          <p:cNvPr id="1740" name="Google Shape;1740;p43"/>
          <p:cNvSpPr txBox="1"/>
          <p:nvPr>
            <p:ph idx="1" type="subTitle"/>
          </p:nvPr>
        </p:nvSpPr>
        <p:spPr>
          <a:xfrm>
            <a:off x="1804750" y="1935218"/>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Cùng mô hình LoS probability theo góc ngẩng và cùng hằng số kênh</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8" name="Shape 1758"/>
        <p:cNvGrpSpPr/>
        <p:nvPr/>
      </p:nvGrpSpPr>
      <p:grpSpPr>
        <a:xfrm>
          <a:off x="0" y="0"/>
          <a:ext cx="0" cy="0"/>
          <a:chOff x="0" y="0"/>
          <a:chExt cx="0" cy="0"/>
        </a:xfrm>
      </p:grpSpPr>
      <p:sp>
        <p:nvSpPr>
          <p:cNvPr id="1759" name="Google Shape;1759;p45"/>
          <p:cNvSpPr txBox="1"/>
          <p:nvPr>
            <p:ph idx="1" type="subTitle"/>
          </p:nvPr>
        </p:nvSpPr>
        <p:spPr>
          <a:xfrm>
            <a:off x="720000"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Max-min rate → timely-delivery ratio, Conn là mục tiêu phụ</a:t>
            </a:r>
          </a:p>
        </p:txBody>
      </p:sp>
      <p:sp>
        <p:nvSpPr>
          <p:cNvPr id="1760" name="Google Shape;1760;p45"/>
          <p:cNvSpPr txBox="1"/>
          <p:nvPr>
            <p:ph idx="2" type="subTitle"/>
          </p:nvPr>
        </p:nvSpPr>
        <p:spPr>
          <a:xfrm>
            <a:off x="3469872"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Relay path, drop node u, backhaul hữu hạn, edge failed</a:t>
            </a:r>
          </a:p>
        </p:txBody>
      </p:sp>
      <p:sp>
        <p:nvSpPr>
          <p:cNvPr id="1761" name="Google Shape;1761;p45"/>
          <p:cNvSpPr txBox="1"/>
          <p:nvPr>
            <p:ph idx="13" type="subTitle"/>
          </p:nvPr>
        </p:nvSpPr>
        <p:spPr>
          <a:xfrm>
            <a:off x="3469873"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Lý thuyết</a:t>
            </a:r>
          </a:p>
        </p:txBody>
      </p:sp>
      <p:sp>
        <p:nvSpPr>
          <p:cNvPr id="1762" name="Google Shape;1762;p4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Cải tiến và thay đổi</a:t>
            </a:r>
          </a:p>
        </p:txBody>
      </p:sp>
      <p:sp>
        <p:nvSpPr>
          <p:cNvPr id="1763" name="Google Shape;1763;p45"/>
          <p:cNvSpPr txBox="1"/>
          <p:nvPr>
            <p:ph idx="7" type="subTitle"/>
          </p:nvPr>
        </p:nvSpPr>
        <p:spPr>
          <a:xfrm>
            <a:off x="720000"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Objective mới</a:t>
            </a:r>
          </a:p>
        </p:txBody>
      </p:sp>
      <p:sp>
        <p:nvSpPr>
          <p:cNvPr id="1764" name="Google Shape;1764;p45"/>
          <p:cNvSpPr txBox="1"/>
          <p:nvPr>
            <p:ph idx="8" type="subTitle"/>
          </p:nvPr>
        </p:nvSpPr>
        <p:spPr>
          <a:xfrm>
            <a:off x="3469873"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Ground network</a:t>
            </a:r>
          </a:p>
        </p:txBody>
      </p:sp>
      <p:sp>
        <p:nvSpPr>
          <p:cNvPr id="1765" name="Google Shape;1765;p45"/>
          <p:cNvSpPr txBox="1"/>
          <p:nvPr>
            <p:ph idx="3" type="subTitle"/>
          </p:nvPr>
        </p:nvSpPr>
        <p:spPr>
          <a:xfrm>
            <a:off x="720000"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Thay SCA bằng local search chấm điểm bằng EDF simulation</a:t>
            </a:r>
          </a:p>
        </p:txBody>
      </p:sp>
      <p:sp>
        <p:nvSpPr>
          <p:cNvPr id="1766" name="Google Shape;1766;p45"/>
          <p:cNvSpPr txBox="1"/>
          <p:nvPr>
            <p:ph idx="4" type="subTitle"/>
          </p:nvPr>
        </p:nvSpPr>
        <p:spPr>
          <a:xfrm>
            <a:off x="3469872"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Chứng minh NP-hard và LP upper bound cho mỗi realization</a:t>
            </a:r>
          </a:p>
        </p:txBody>
      </p:sp>
      <p:sp>
        <p:nvSpPr>
          <p:cNvPr id="1767" name="Google Shape;1767;p45"/>
          <p:cNvSpPr txBox="1"/>
          <p:nvPr>
            <p:ph idx="5" type="subTitle"/>
          </p:nvPr>
        </p:nvSpPr>
        <p:spPr>
          <a:xfrm>
            <a:off x="6219751"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Release r_a, deadline d_a, size L_a, causality theo slot</a:t>
            </a:r>
          </a:p>
        </p:txBody>
      </p:sp>
      <p:sp>
        <p:nvSpPr>
          <p:cNvPr id="1768" name="Google Shape;1768;p45"/>
          <p:cNvSpPr txBox="1"/>
          <p:nvPr>
            <p:ph idx="6" type="subTitle"/>
          </p:nvPr>
        </p:nvSpPr>
        <p:spPr>
          <a:xfrm>
            <a:off x="6219751"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So với Tran-IA, ablation, Holm-corrected paired tests</a:t>
            </a:r>
          </a:p>
        </p:txBody>
      </p:sp>
      <p:sp>
        <p:nvSpPr>
          <p:cNvPr id="1769" name="Google Shape;1769;p45"/>
          <p:cNvSpPr txBox="1"/>
          <p:nvPr>
            <p:ph idx="9" type="subTitle"/>
          </p:nvPr>
        </p:nvSpPr>
        <p:spPr>
          <a:xfrm>
            <a:off x="720000"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Sample-scored</a:t>
            </a:r>
          </a:p>
        </p:txBody>
      </p:sp>
      <p:sp>
        <p:nvSpPr>
          <p:cNvPr id="1770" name="Google Shape;1770;p45"/>
          <p:cNvSpPr txBox="1"/>
          <p:nvPr>
            <p:ph idx="14" type="subTitle"/>
          </p:nvPr>
        </p:nvSpPr>
        <p:spPr>
          <a:xfrm>
            <a:off x="6219752"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Deadline/alert</a:t>
            </a:r>
          </a:p>
        </p:txBody>
      </p:sp>
      <p:sp>
        <p:nvSpPr>
          <p:cNvPr id="1771" name="Google Shape;1771;p45"/>
          <p:cNvSpPr txBox="1"/>
          <p:nvPr>
            <p:ph idx="15" type="subTitle"/>
          </p:nvPr>
        </p:nvSpPr>
        <p:spPr>
          <a:xfrm>
            <a:off x="6219752"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Đánh giá</a:t>
            </a:r>
          </a:p>
        </p:txBody>
      </p:sp>
      <p:grpSp>
        <p:nvGrpSpPr>
          <p:cNvPr id="1772" name="Google Shape;1772;p45"/>
          <p:cNvGrpSpPr/>
          <p:nvPr/>
        </p:nvGrpSpPr>
        <p:grpSpPr>
          <a:xfrm>
            <a:off x="838692" y="3020954"/>
            <a:ext cx="299492" cy="340983"/>
            <a:chOff x="742339" y="1436604"/>
            <a:chExt cx="418402" cy="476366"/>
          </a:xfrm>
        </p:grpSpPr>
        <p:sp>
          <p:nvSpPr>
            <p:cNvPr id="1773" name="Google Shape;1773;p45"/>
            <p:cNvSpPr/>
            <p:nvPr/>
          </p:nvSpPr>
          <p:spPr>
            <a:xfrm>
              <a:off x="836180" y="1697442"/>
              <a:ext cx="98615" cy="215528"/>
            </a:xfrm>
            <a:custGeom>
              <a:rect b="b" l="l" r="r" t="t"/>
              <a:pathLst>
                <a:path extrusionOk="0" h="5689" w="2603">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45"/>
            <p:cNvSpPr/>
            <p:nvPr/>
          </p:nvSpPr>
          <p:spPr>
            <a:xfrm>
              <a:off x="818487" y="1437664"/>
              <a:ext cx="25686" cy="55502"/>
            </a:xfrm>
            <a:custGeom>
              <a:rect b="b" l="l" r="r" t="t"/>
              <a:pathLst>
                <a:path extrusionOk="0" h="1465" w="678">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45"/>
            <p:cNvSpPr/>
            <p:nvPr/>
          </p:nvSpPr>
          <p:spPr>
            <a:xfrm>
              <a:off x="875807" y="1510934"/>
              <a:ext cx="22996" cy="55502"/>
            </a:xfrm>
            <a:custGeom>
              <a:rect b="b" l="l" r="r" t="t"/>
              <a:pathLst>
                <a:path extrusionOk="0" h="1465" w="607">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45"/>
            <p:cNvSpPr/>
            <p:nvPr/>
          </p:nvSpPr>
          <p:spPr>
            <a:xfrm>
              <a:off x="909108" y="1437664"/>
              <a:ext cx="25686" cy="55502"/>
            </a:xfrm>
            <a:custGeom>
              <a:rect b="b" l="l" r="r" t="t"/>
              <a:pathLst>
                <a:path extrusionOk="0" h="1465" w="678">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45"/>
            <p:cNvSpPr/>
            <p:nvPr/>
          </p:nvSpPr>
          <p:spPr>
            <a:xfrm>
              <a:off x="772116" y="1436604"/>
              <a:ext cx="38529" cy="58078"/>
            </a:xfrm>
            <a:custGeom>
              <a:rect b="b" l="l" r="r" t="t"/>
              <a:pathLst>
                <a:path extrusionOk="0" h="1533" w="1017">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45"/>
            <p:cNvSpPr/>
            <p:nvPr/>
          </p:nvSpPr>
          <p:spPr>
            <a:xfrm>
              <a:off x="772116" y="1510025"/>
              <a:ext cx="38529" cy="58078"/>
            </a:xfrm>
            <a:custGeom>
              <a:rect b="b" l="l" r="r" t="t"/>
              <a:pathLst>
                <a:path extrusionOk="0" h="1533" w="1017">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45"/>
            <p:cNvSpPr/>
            <p:nvPr/>
          </p:nvSpPr>
          <p:spPr>
            <a:xfrm>
              <a:off x="825496" y="1509987"/>
              <a:ext cx="38491" cy="58078"/>
            </a:xfrm>
            <a:custGeom>
              <a:rect b="b" l="l" r="r" t="t"/>
              <a:pathLst>
                <a:path extrusionOk="0" h="1533" w="1016">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45"/>
            <p:cNvSpPr/>
            <p:nvPr/>
          </p:nvSpPr>
          <p:spPr>
            <a:xfrm>
              <a:off x="913655" y="1509987"/>
              <a:ext cx="38529" cy="58078"/>
            </a:xfrm>
            <a:custGeom>
              <a:rect b="b" l="l" r="r" t="t"/>
              <a:pathLst>
                <a:path extrusionOk="0" h="1533" w="1017">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45"/>
            <p:cNvSpPr/>
            <p:nvPr/>
          </p:nvSpPr>
          <p:spPr>
            <a:xfrm>
              <a:off x="860275" y="1436604"/>
              <a:ext cx="38529" cy="58078"/>
            </a:xfrm>
            <a:custGeom>
              <a:rect b="b" l="l" r="r" t="t"/>
              <a:pathLst>
                <a:path extrusionOk="0" h="1533" w="1017">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45"/>
            <p:cNvSpPr/>
            <p:nvPr/>
          </p:nvSpPr>
          <p:spPr>
            <a:xfrm>
              <a:off x="954608" y="1436604"/>
              <a:ext cx="38529" cy="58078"/>
            </a:xfrm>
            <a:custGeom>
              <a:rect b="b" l="l" r="r" t="t"/>
              <a:pathLst>
                <a:path extrusionOk="0" h="1533" w="1017">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45"/>
            <p:cNvSpPr/>
            <p:nvPr/>
          </p:nvSpPr>
          <p:spPr>
            <a:xfrm>
              <a:off x="742339" y="1479944"/>
              <a:ext cx="418402" cy="352937"/>
            </a:xfrm>
            <a:custGeom>
              <a:rect b="b" l="l" r="r" t="t"/>
              <a:pathLst>
                <a:path extrusionOk="0" h="9316" w="11044">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45"/>
            <p:cNvSpPr/>
            <p:nvPr/>
          </p:nvSpPr>
          <p:spPr>
            <a:xfrm>
              <a:off x="1008367" y="1531051"/>
              <a:ext cx="105169" cy="101039"/>
            </a:xfrm>
            <a:custGeom>
              <a:rect b="b" l="l" r="r" t="t"/>
              <a:pathLst>
                <a:path extrusionOk="0" h="2667" w="2776">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5" name="Google Shape;1785;p45"/>
          <p:cNvGrpSpPr/>
          <p:nvPr/>
        </p:nvGrpSpPr>
        <p:grpSpPr>
          <a:xfrm>
            <a:off x="817835" y="1319890"/>
            <a:ext cx="341227" cy="289621"/>
            <a:chOff x="7952725" y="749256"/>
            <a:chExt cx="476707" cy="404612"/>
          </a:xfrm>
        </p:grpSpPr>
        <p:sp>
          <p:nvSpPr>
            <p:cNvPr id="1786" name="Google Shape;1786;p45"/>
            <p:cNvSpPr/>
            <p:nvPr/>
          </p:nvSpPr>
          <p:spPr>
            <a:xfrm>
              <a:off x="8164957" y="779147"/>
              <a:ext cx="52243" cy="21367"/>
            </a:xfrm>
            <a:custGeom>
              <a:rect b="b" l="l" r="r" t="t"/>
              <a:pathLst>
                <a:path extrusionOk="0" h="564" w="1379">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45"/>
            <p:cNvSpPr/>
            <p:nvPr/>
          </p:nvSpPr>
          <p:spPr>
            <a:xfrm>
              <a:off x="8144386" y="749256"/>
              <a:ext cx="93424" cy="29588"/>
            </a:xfrm>
            <a:custGeom>
              <a:rect b="b" l="l" r="r" t="t"/>
              <a:pathLst>
                <a:path extrusionOk="0" h="781" w="2466">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45"/>
            <p:cNvSpPr/>
            <p:nvPr/>
          </p:nvSpPr>
          <p:spPr>
            <a:xfrm>
              <a:off x="8006333" y="846052"/>
              <a:ext cx="368659" cy="229659"/>
            </a:xfrm>
            <a:custGeom>
              <a:rect b="b" l="l" r="r" t="t"/>
              <a:pathLst>
                <a:path extrusionOk="0" h="6062" w="9731">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45"/>
            <p:cNvSpPr/>
            <p:nvPr/>
          </p:nvSpPr>
          <p:spPr>
            <a:xfrm>
              <a:off x="7952725" y="812524"/>
              <a:ext cx="476707" cy="341344"/>
            </a:xfrm>
            <a:custGeom>
              <a:rect b="b" l="l" r="r" t="t"/>
              <a:pathLst>
                <a:path extrusionOk="0" h="9010" w="12583">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45"/>
            <p:cNvSpPr/>
            <p:nvPr/>
          </p:nvSpPr>
          <p:spPr>
            <a:xfrm>
              <a:off x="8039747" y="885756"/>
              <a:ext cx="301716" cy="144266"/>
            </a:xfrm>
            <a:custGeom>
              <a:rect b="b" l="l" r="r" t="t"/>
              <a:pathLst>
                <a:path extrusionOk="0" h="3808" w="7964">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1" name="Google Shape;1791;p45"/>
          <p:cNvGrpSpPr/>
          <p:nvPr/>
        </p:nvGrpSpPr>
        <p:grpSpPr>
          <a:xfrm>
            <a:off x="6317588" y="3052879"/>
            <a:ext cx="341362" cy="327858"/>
            <a:chOff x="7163051" y="722585"/>
            <a:chExt cx="476896" cy="458030"/>
          </a:xfrm>
        </p:grpSpPr>
        <p:sp>
          <p:nvSpPr>
            <p:cNvPr id="1792" name="Google Shape;1792;p45"/>
            <p:cNvSpPr/>
            <p:nvPr/>
          </p:nvSpPr>
          <p:spPr>
            <a:xfrm>
              <a:off x="7163051" y="722585"/>
              <a:ext cx="476896" cy="458030"/>
            </a:xfrm>
            <a:custGeom>
              <a:rect b="b" l="l" r="r" t="t"/>
              <a:pathLst>
                <a:path extrusionOk="0" h="12090" w="12588">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45"/>
            <p:cNvSpPr/>
            <p:nvPr/>
          </p:nvSpPr>
          <p:spPr>
            <a:xfrm>
              <a:off x="7293678" y="846961"/>
              <a:ext cx="119451" cy="135439"/>
            </a:xfrm>
            <a:custGeom>
              <a:rect b="b" l="l" r="r" t="t"/>
              <a:pathLst>
                <a:path extrusionOk="0" h="3575" w="3153">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45"/>
            <p:cNvSpPr/>
            <p:nvPr/>
          </p:nvSpPr>
          <p:spPr>
            <a:xfrm>
              <a:off x="7414342" y="874428"/>
              <a:ext cx="95091" cy="107859"/>
            </a:xfrm>
            <a:custGeom>
              <a:rect b="b" l="l" r="r" t="t"/>
              <a:pathLst>
                <a:path extrusionOk="0" h="2847" w="251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45"/>
            <p:cNvSpPr/>
            <p:nvPr/>
          </p:nvSpPr>
          <p:spPr>
            <a:xfrm>
              <a:off x="7245072" y="792937"/>
              <a:ext cx="311756" cy="242805"/>
            </a:xfrm>
            <a:custGeom>
              <a:rect b="b" l="l" r="r" t="t"/>
              <a:pathLst>
                <a:path extrusionOk="0" h="6409" w="8229">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6" name="Google Shape;1796;p45"/>
          <p:cNvGrpSpPr/>
          <p:nvPr/>
        </p:nvGrpSpPr>
        <p:grpSpPr>
          <a:xfrm>
            <a:off x="6317598" y="1313637"/>
            <a:ext cx="341362" cy="302150"/>
            <a:chOff x="6364624" y="740505"/>
            <a:chExt cx="476896" cy="422115"/>
          </a:xfrm>
        </p:grpSpPr>
        <p:sp>
          <p:nvSpPr>
            <p:cNvPr id="1797" name="Google Shape;1797;p45"/>
            <p:cNvSpPr/>
            <p:nvPr/>
          </p:nvSpPr>
          <p:spPr>
            <a:xfrm>
              <a:off x="6638230" y="799719"/>
              <a:ext cx="143622" cy="142410"/>
            </a:xfrm>
            <a:custGeom>
              <a:rect b="b" l="l" r="r" t="t"/>
              <a:pathLst>
                <a:path extrusionOk="0" h="3759" w="3791">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45"/>
            <p:cNvSpPr/>
            <p:nvPr/>
          </p:nvSpPr>
          <p:spPr>
            <a:xfrm>
              <a:off x="6693731" y="842529"/>
              <a:ext cx="32960" cy="56903"/>
            </a:xfrm>
            <a:custGeom>
              <a:rect b="b" l="l" r="r" t="t"/>
              <a:pathLst>
                <a:path extrusionOk="0" h="1502" w="87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45"/>
            <p:cNvSpPr/>
            <p:nvPr/>
          </p:nvSpPr>
          <p:spPr>
            <a:xfrm>
              <a:off x="6729078" y="844575"/>
              <a:ext cx="26785" cy="52736"/>
            </a:xfrm>
            <a:custGeom>
              <a:rect b="b" l="l" r="r" t="t"/>
              <a:pathLst>
                <a:path extrusionOk="0" h="1392" w="707">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45"/>
            <p:cNvSpPr/>
            <p:nvPr/>
          </p:nvSpPr>
          <p:spPr>
            <a:xfrm>
              <a:off x="6663044" y="844575"/>
              <a:ext cx="26785" cy="52736"/>
            </a:xfrm>
            <a:custGeom>
              <a:rect b="b" l="l" r="r" t="t"/>
              <a:pathLst>
                <a:path extrusionOk="0" h="1392" w="707">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45"/>
            <p:cNvSpPr/>
            <p:nvPr/>
          </p:nvSpPr>
          <p:spPr>
            <a:xfrm>
              <a:off x="6449487" y="767289"/>
              <a:ext cx="18677" cy="18677"/>
            </a:xfrm>
            <a:custGeom>
              <a:rect b="b" l="l" r="r" t="t"/>
              <a:pathLst>
                <a:path extrusionOk="0" h="493" w="493">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45"/>
            <p:cNvSpPr/>
            <p:nvPr/>
          </p:nvSpPr>
          <p:spPr>
            <a:xfrm>
              <a:off x="6485212" y="767289"/>
              <a:ext cx="18715" cy="18677"/>
            </a:xfrm>
            <a:custGeom>
              <a:rect b="b" l="l" r="r" t="t"/>
              <a:pathLst>
                <a:path extrusionOk="0" h="493" w="494">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45"/>
            <p:cNvSpPr/>
            <p:nvPr/>
          </p:nvSpPr>
          <p:spPr>
            <a:xfrm>
              <a:off x="6364624" y="740505"/>
              <a:ext cx="476896" cy="422115"/>
            </a:xfrm>
            <a:custGeom>
              <a:rect b="b" l="l" r="r" t="t"/>
              <a:pathLst>
                <a:path extrusionOk="0" h="11142" w="12588">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45"/>
            <p:cNvSpPr/>
            <p:nvPr/>
          </p:nvSpPr>
          <p:spPr>
            <a:xfrm>
              <a:off x="6483886" y="931331"/>
              <a:ext cx="13714" cy="201927"/>
            </a:xfrm>
            <a:custGeom>
              <a:rect b="b" l="l" r="r" t="t"/>
              <a:pathLst>
                <a:path extrusionOk="0" h="5330" w="362">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45"/>
            <p:cNvSpPr/>
            <p:nvPr/>
          </p:nvSpPr>
          <p:spPr>
            <a:xfrm>
              <a:off x="6410162" y="949062"/>
              <a:ext cx="51940" cy="13676"/>
            </a:xfrm>
            <a:custGeom>
              <a:rect b="b" l="l" r="r" t="t"/>
              <a:pathLst>
                <a:path extrusionOk="0" h="361" w="1371">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45"/>
            <p:cNvSpPr/>
            <p:nvPr/>
          </p:nvSpPr>
          <p:spPr>
            <a:xfrm>
              <a:off x="6410162" y="980127"/>
              <a:ext cx="51940" cy="13676"/>
            </a:xfrm>
            <a:custGeom>
              <a:rect b="b" l="l" r="r" t="t"/>
              <a:pathLst>
                <a:path extrusionOk="0" h="361" w="1371">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45"/>
            <p:cNvSpPr/>
            <p:nvPr/>
          </p:nvSpPr>
          <p:spPr>
            <a:xfrm>
              <a:off x="6410162" y="1009943"/>
              <a:ext cx="51902" cy="13676"/>
            </a:xfrm>
            <a:custGeom>
              <a:rect b="b" l="l" r="r" t="t"/>
              <a:pathLst>
                <a:path extrusionOk="0" h="361" w="137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45"/>
            <p:cNvSpPr/>
            <p:nvPr/>
          </p:nvSpPr>
          <p:spPr>
            <a:xfrm>
              <a:off x="6410162" y="1040895"/>
              <a:ext cx="51940" cy="13714"/>
            </a:xfrm>
            <a:custGeom>
              <a:rect b="b" l="l" r="r" t="t"/>
              <a:pathLst>
                <a:path extrusionOk="0" h="362" w="1371">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45"/>
            <p:cNvSpPr/>
            <p:nvPr/>
          </p:nvSpPr>
          <p:spPr>
            <a:xfrm>
              <a:off x="6410162" y="1070748"/>
              <a:ext cx="51940" cy="13639"/>
            </a:xfrm>
            <a:custGeom>
              <a:rect b="b" l="l" r="r" t="t"/>
              <a:pathLst>
                <a:path extrusionOk="0" h="360" w="1371">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45"/>
            <p:cNvSpPr/>
            <p:nvPr/>
          </p:nvSpPr>
          <p:spPr>
            <a:xfrm>
              <a:off x="6410162" y="1101776"/>
              <a:ext cx="51902" cy="13714"/>
            </a:xfrm>
            <a:custGeom>
              <a:rect b="b" l="l" r="r" t="t"/>
              <a:pathLst>
                <a:path extrusionOk="0" h="362" w="137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1" name="Google Shape;1811;p45"/>
          <p:cNvGrpSpPr/>
          <p:nvPr/>
        </p:nvGrpSpPr>
        <p:grpSpPr>
          <a:xfrm>
            <a:off x="3567729" y="3065739"/>
            <a:ext cx="341254" cy="302123"/>
            <a:chOff x="5553999" y="740543"/>
            <a:chExt cx="476745" cy="422077"/>
          </a:xfrm>
        </p:grpSpPr>
        <p:sp>
          <p:nvSpPr>
            <p:cNvPr id="1812" name="Google Shape;1812;p45"/>
            <p:cNvSpPr/>
            <p:nvPr/>
          </p:nvSpPr>
          <p:spPr>
            <a:xfrm>
              <a:off x="5553999" y="740543"/>
              <a:ext cx="476745" cy="422077"/>
            </a:xfrm>
            <a:custGeom>
              <a:rect b="b" l="l" r="r" t="t"/>
              <a:pathLst>
                <a:path extrusionOk="0" h="11141" w="12584">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45"/>
            <p:cNvSpPr/>
            <p:nvPr/>
          </p:nvSpPr>
          <p:spPr>
            <a:xfrm>
              <a:off x="5603022" y="767289"/>
              <a:ext cx="18677" cy="18677"/>
            </a:xfrm>
            <a:custGeom>
              <a:rect b="b" l="l" r="r" t="t"/>
              <a:pathLst>
                <a:path extrusionOk="0" h="493" w="493">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45"/>
            <p:cNvSpPr/>
            <p:nvPr/>
          </p:nvSpPr>
          <p:spPr>
            <a:xfrm>
              <a:off x="5638710" y="767289"/>
              <a:ext cx="18715" cy="18677"/>
            </a:xfrm>
            <a:custGeom>
              <a:rect b="b" l="l" r="r" t="t"/>
              <a:pathLst>
                <a:path extrusionOk="0" h="493" w="494">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45"/>
            <p:cNvSpPr/>
            <p:nvPr/>
          </p:nvSpPr>
          <p:spPr>
            <a:xfrm>
              <a:off x="5674511" y="767289"/>
              <a:ext cx="18639" cy="18677"/>
            </a:xfrm>
            <a:custGeom>
              <a:rect b="b" l="l" r="r" t="t"/>
              <a:pathLst>
                <a:path extrusionOk="0" h="493" w="492">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45"/>
            <p:cNvSpPr/>
            <p:nvPr/>
          </p:nvSpPr>
          <p:spPr>
            <a:xfrm>
              <a:off x="5711866" y="985166"/>
              <a:ext cx="53077" cy="61146"/>
            </a:xfrm>
            <a:custGeom>
              <a:rect b="b" l="l" r="r" t="t"/>
              <a:pathLst>
                <a:path extrusionOk="0" h="1614" w="1401">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45"/>
            <p:cNvSpPr/>
            <p:nvPr/>
          </p:nvSpPr>
          <p:spPr>
            <a:xfrm>
              <a:off x="5861890" y="985810"/>
              <a:ext cx="45955" cy="60275"/>
            </a:xfrm>
            <a:custGeom>
              <a:rect b="b" l="l" r="r" t="t"/>
              <a:pathLst>
                <a:path extrusionOk="0" h="1591" w="1213">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45"/>
            <p:cNvSpPr/>
            <p:nvPr/>
          </p:nvSpPr>
          <p:spPr>
            <a:xfrm>
              <a:off x="5607417" y="986416"/>
              <a:ext cx="29891" cy="61109"/>
            </a:xfrm>
            <a:custGeom>
              <a:rect b="b" l="l" r="r" t="t"/>
              <a:pathLst>
                <a:path extrusionOk="0" h="1613" w="789">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45"/>
            <p:cNvSpPr/>
            <p:nvPr/>
          </p:nvSpPr>
          <p:spPr>
            <a:xfrm>
              <a:off x="5833325" y="987894"/>
              <a:ext cx="13714" cy="57661"/>
            </a:xfrm>
            <a:custGeom>
              <a:rect b="b" l="l" r="r" t="t"/>
              <a:pathLst>
                <a:path extrusionOk="0" h="1522" w="362">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45"/>
            <p:cNvSpPr/>
            <p:nvPr/>
          </p:nvSpPr>
          <p:spPr>
            <a:xfrm>
              <a:off x="5775020" y="987553"/>
              <a:ext cx="45348" cy="59669"/>
            </a:xfrm>
            <a:custGeom>
              <a:rect b="b" l="l" r="r" t="t"/>
              <a:pathLst>
                <a:path extrusionOk="0" h="1575" w="1197">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45"/>
            <p:cNvSpPr/>
            <p:nvPr/>
          </p:nvSpPr>
          <p:spPr>
            <a:xfrm>
              <a:off x="5909701" y="986795"/>
              <a:ext cx="66678" cy="59820"/>
            </a:xfrm>
            <a:custGeom>
              <a:rect b="b" l="l" r="r" t="t"/>
              <a:pathLst>
                <a:path extrusionOk="0" h="1579" w="176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45"/>
            <p:cNvSpPr/>
            <p:nvPr/>
          </p:nvSpPr>
          <p:spPr>
            <a:xfrm>
              <a:off x="5644771" y="985772"/>
              <a:ext cx="61109" cy="61146"/>
            </a:xfrm>
            <a:custGeom>
              <a:rect b="b" l="l" r="r" t="t"/>
              <a:pathLst>
                <a:path extrusionOk="0" h="1614" w="1613">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45"/>
            <p:cNvSpPr/>
            <p:nvPr/>
          </p:nvSpPr>
          <p:spPr>
            <a:xfrm>
              <a:off x="5607379" y="916746"/>
              <a:ext cx="369985" cy="47318"/>
            </a:xfrm>
            <a:custGeom>
              <a:rect b="b" l="l" r="r" t="t"/>
              <a:pathLst>
                <a:path extrusionOk="0" h="1249" w="9766">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4" name="Google Shape;1824;p45"/>
          <p:cNvGrpSpPr/>
          <p:nvPr/>
        </p:nvGrpSpPr>
        <p:grpSpPr>
          <a:xfrm>
            <a:off x="3567716" y="1294114"/>
            <a:ext cx="188579" cy="341173"/>
            <a:chOff x="4855778" y="713265"/>
            <a:chExt cx="263452" cy="476631"/>
          </a:xfrm>
        </p:grpSpPr>
        <p:sp>
          <p:nvSpPr>
            <p:cNvPr id="1825" name="Google Shape;1825;p45"/>
            <p:cNvSpPr/>
            <p:nvPr/>
          </p:nvSpPr>
          <p:spPr>
            <a:xfrm>
              <a:off x="4973032" y="1139055"/>
              <a:ext cx="29361" cy="13676"/>
            </a:xfrm>
            <a:custGeom>
              <a:rect b="b" l="l" r="r" t="t"/>
              <a:pathLst>
                <a:path extrusionOk="0" h="361" w="775">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45"/>
            <p:cNvSpPr/>
            <p:nvPr/>
          </p:nvSpPr>
          <p:spPr>
            <a:xfrm>
              <a:off x="4855968" y="893712"/>
              <a:ext cx="263149" cy="296185"/>
            </a:xfrm>
            <a:custGeom>
              <a:rect b="b" l="l" r="r" t="t"/>
              <a:pathLst>
                <a:path extrusionOk="0" h="7818" w="6946">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45"/>
            <p:cNvSpPr/>
            <p:nvPr/>
          </p:nvSpPr>
          <p:spPr>
            <a:xfrm>
              <a:off x="4855778" y="713265"/>
              <a:ext cx="263452" cy="335775"/>
            </a:xfrm>
            <a:custGeom>
              <a:rect b="b" l="l" r="r" t="t"/>
              <a:pathLst>
                <a:path extrusionOk="0" h="8863" w="6954">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45"/>
            <p:cNvSpPr/>
            <p:nvPr/>
          </p:nvSpPr>
          <p:spPr>
            <a:xfrm>
              <a:off x="4888208" y="750468"/>
              <a:ext cx="199919" cy="105585"/>
            </a:xfrm>
            <a:custGeom>
              <a:rect b="b" l="l" r="r" t="t"/>
              <a:pathLst>
                <a:path extrusionOk="0" h="2787" w="5277">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45"/>
            <p:cNvSpPr/>
            <p:nvPr/>
          </p:nvSpPr>
          <p:spPr>
            <a:xfrm>
              <a:off x="4888018" y="875640"/>
              <a:ext cx="64821" cy="75315"/>
            </a:xfrm>
            <a:custGeom>
              <a:rect b="b" l="l" r="r" t="t"/>
              <a:pathLst>
                <a:path extrusionOk="0" h="1988" w="1711">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45"/>
            <p:cNvSpPr/>
            <p:nvPr/>
          </p:nvSpPr>
          <p:spPr>
            <a:xfrm>
              <a:off x="4962728" y="936673"/>
              <a:ext cx="124035" cy="13714"/>
            </a:xfrm>
            <a:custGeom>
              <a:rect b="b" l="l" r="r" t="t"/>
              <a:pathLst>
                <a:path extrusionOk="0" h="362" w="3274">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45"/>
            <p:cNvSpPr/>
            <p:nvPr/>
          </p:nvSpPr>
          <p:spPr>
            <a:xfrm>
              <a:off x="4989096" y="968989"/>
              <a:ext cx="97857" cy="13639"/>
            </a:xfrm>
            <a:custGeom>
              <a:rect b="b" l="l" r="r" t="t"/>
              <a:pathLst>
                <a:path extrusionOk="0" h="360" w="2583">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 name="Google Shape;1832;p45"/>
            <p:cNvSpPr/>
            <p:nvPr/>
          </p:nvSpPr>
          <p:spPr>
            <a:xfrm>
              <a:off x="4888359" y="968989"/>
              <a:ext cx="82097" cy="13639"/>
            </a:xfrm>
            <a:custGeom>
              <a:rect b="b" l="l" r="r" t="t"/>
              <a:pathLst>
                <a:path extrusionOk="0" h="360" w="2167">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45"/>
            <p:cNvSpPr/>
            <p:nvPr/>
          </p:nvSpPr>
          <p:spPr>
            <a:xfrm>
              <a:off x="4889231" y="1000017"/>
              <a:ext cx="196926" cy="13676"/>
            </a:xfrm>
            <a:custGeom>
              <a:rect b="b" l="l" r="r" t="t"/>
              <a:pathLst>
                <a:path extrusionOk="0" h="361" w="5198">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45"/>
            <p:cNvSpPr/>
            <p:nvPr/>
          </p:nvSpPr>
          <p:spPr>
            <a:xfrm>
              <a:off x="5059562" y="1032257"/>
              <a:ext cx="27959" cy="13676"/>
            </a:xfrm>
            <a:custGeom>
              <a:rect b="b" l="l" r="r" t="t"/>
              <a:pathLst>
                <a:path extrusionOk="0" h="361" w="738">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45"/>
            <p:cNvSpPr/>
            <p:nvPr/>
          </p:nvSpPr>
          <p:spPr>
            <a:xfrm>
              <a:off x="4888928" y="1032257"/>
              <a:ext cx="152373" cy="13676"/>
            </a:xfrm>
            <a:custGeom>
              <a:rect b="b" l="l" r="r" t="t"/>
              <a:pathLst>
                <a:path extrusionOk="0" h="361" w="4022">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45"/>
            <p:cNvSpPr/>
            <p:nvPr/>
          </p:nvSpPr>
          <p:spPr>
            <a:xfrm>
              <a:off x="4889231" y="1063285"/>
              <a:ext cx="196926" cy="13714"/>
            </a:xfrm>
            <a:custGeom>
              <a:rect b="b" l="l" r="r" t="t"/>
              <a:pathLst>
                <a:path extrusionOk="0" h="362" w="5198">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02</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 NP-hardness và LP upper bound</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Formulation</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a:t>
            </a:r>
          </a:p>
        </p:txBody>
      </p:sp>
      <p:sp>
        <p:nvSpPr>
          <p:cNvPr id="1531" name="Rounded Rectangle 1530"/>
          <p:cNvSpPr/>
          <p:nvPr/>
        </p:nvSpPr>
        <p:spPr>
          <a:xfrm>
            <a:off x="722376" y="1188720"/>
            <a:ext cx="3749039" cy="3429000"/>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TextBox 1531"/>
          <p:cNvSpPr txBox="1"/>
          <p:nvPr/>
        </p:nvSpPr>
        <p:spPr>
          <a:xfrm>
            <a:off x="886968" y="1298448"/>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Biến quyết định</a:t>
            </a:r>
          </a:p>
        </p:txBody>
      </p:sp>
      <p:sp>
        <p:nvSpPr>
          <p:cNvPr id="1533" name="TextBox 1532"/>
          <p:cNvSpPr txBox="1"/>
          <p:nvPr/>
        </p:nvSpPr>
        <p:spPr>
          <a:xfrm>
            <a:off x="886968" y="1600200"/>
            <a:ext cx="3474720" cy="1097280"/>
          </a:xfrm>
          <a:prstGeom prst="rect">
            <a:avLst/>
          </a:prstGeom>
          <a:noFill/>
        </p:spPr>
        <p:txBody>
          <a:bodyPr wrap="square" lIns="36576" rIns="36576" tIns="18288" bIns="18288" anchor="t">
            <a:spAutoFit/>
          </a:bodyPr>
          <a:lstStyle/>
          <a:p>
            <a:pPr algn="l" marL="171450" indent="-171450">
              <a:spcAft>
                <a:spcPts val="300"/>
              </a:spcAft>
              <a:buClr>
                <a:srgbClr val="EB9109"/>
              </a:buClr>
              <a:buFont typeface="Arial"/>
              <a:buChar char="•"/>
            </a:pPr>
            <a:r>
              <a:rPr sz="1000" b="1">
                <a:solidFill>
                  <a:srgbClr val="1D1D1D"/>
                </a:solidFill>
                <a:latin typeface="Be Vietnam Pro"/>
              </a:rPr>
              <a:t>q</a:t>
            </a:r>
            <a:r>
              <a:rPr sz="1000" b="0">
                <a:solidFill>
                  <a:srgbClr val="1D1D1D"/>
                </a:solidFill>
                <a:latin typeface="Be Vietnam Pro"/>
              </a:rPr>
              <a:t>: UAV trajectory, q[0] = q_s, q[N] = q_t</a:t>
            </a:r>
          </a:p>
          <a:p>
            <a:pPr algn="l" marL="171450" indent="-171450">
              <a:spcAft>
                <a:spcPts val="300"/>
              </a:spcAft>
              <a:buClr>
                <a:srgbClr val="EB9109"/>
              </a:buClr>
              <a:buFont typeface="Arial"/>
              <a:buChar char="•"/>
            </a:pPr>
            <a:r>
              <a:rPr sz="1000" b="1">
                <a:solidFill>
                  <a:srgbClr val="1D1D1D"/>
                </a:solidFill>
                <a:latin typeface="Be Vietnam Pro"/>
              </a:rPr>
              <a:t>x_{a,p} ∈ {0,1}</a:t>
            </a:r>
            <a:r>
              <a:rPr sz="1000" b="0">
                <a:solidFill>
                  <a:srgbClr val="1D1D1D"/>
                </a:solidFill>
                <a:latin typeface="Be Vietnam Pro"/>
              </a:rPr>
              <a:t>: chọn ground path hoặc UAV path cho alert a</a:t>
            </a:r>
          </a:p>
          <a:p>
            <a:pPr algn="l" marL="171450" indent="-171450">
              <a:spcAft>
                <a:spcPts val="300"/>
              </a:spcAft>
              <a:buClr>
                <a:srgbClr val="EB9109"/>
              </a:buClr>
              <a:buFont typeface="Arial"/>
              <a:buChar char="•"/>
            </a:pPr>
            <a:r>
              <a:rPr sz="1000" b="1">
                <a:solidFill>
                  <a:srgbClr val="1D1D1D"/>
                </a:solidFill>
                <a:latin typeface="Be Vietnam Pro"/>
              </a:rPr>
              <a:t>b_{e,n} ≥ 0</a:t>
            </a:r>
            <a:r>
              <a:rPr sz="1000" b="0">
                <a:solidFill>
                  <a:srgbClr val="1D1D1D"/>
                </a:solidFill>
                <a:latin typeface="Be Vietnam Pro"/>
              </a:rPr>
              <a:t>: bandwidth của radio link e ở slot n</a:t>
            </a:r>
          </a:p>
        </p:txBody>
      </p:sp>
      <p:sp>
        <p:nvSpPr>
          <p:cNvPr id="1534" name="TextBox 1533"/>
          <p:cNvSpPr txBox="1"/>
          <p:nvPr/>
        </p:nvSpPr>
        <p:spPr>
          <a:xfrm>
            <a:off x="886968" y="2743200"/>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Objective</a:t>
            </a:r>
          </a:p>
        </p:txBody>
      </p:sp>
      <p:pic>
        <p:nvPicPr>
          <p:cNvPr id="1535" name="Picture 1534" descr="eq.png"/>
          <p:cNvPicPr>
            <a:picLocks noChangeAspect="1"/>
          </p:cNvPicPr>
          <p:nvPr/>
        </p:nvPicPr>
        <p:blipFill>
          <a:blip r:embed="rId2"/>
          <a:stretch>
            <a:fillRect/>
          </a:stretch>
        </p:blipFill>
        <p:spPr>
          <a:xfrm>
            <a:off x="950976" y="3063240"/>
            <a:ext cx="3291840" cy="1060851"/>
          </a:xfrm>
          <a:prstGeom prst="rect">
            <a:avLst/>
          </a:prstGeom>
        </p:spPr>
      </p:pic>
      <p:sp>
        <p:nvSpPr>
          <p:cNvPr id="1536" name="Rounded Rectangle 1535"/>
          <p:cNvSpPr/>
          <p:nvPr/>
        </p:nvSpPr>
        <p:spPr>
          <a:xfrm>
            <a:off x="4672584" y="1188720"/>
            <a:ext cx="3749039" cy="3429000"/>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TextBox 1536"/>
          <p:cNvSpPr txBox="1"/>
          <p:nvPr/>
        </p:nvSpPr>
        <p:spPr>
          <a:xfrm>
            <a:off x="4837176" y="1298448"/>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Ràng buộc mỗi slot</a:t>
            </a:r>
          </a:p>
        </p:txBody>
      </p:sp>
      <p:sp>
        <p:nvSpPr>
          <p:cNvPr id="1538" name="TextBox 1537"/>
          <p:cNvSpPr txBox="1"/>
          <p:nvPr/>
        </p:nvSpPr>
        <p:spPr>
          <a:xfrm>
            <a:off x="4837176" y="1600200"/>
            <a:ext cx="3474720" cy="2926080"/>
          </a:xfrm>
          <a:prstGeom prst="rect">
            <a:avLst/>
          </a:prstGeom>
          <a:noFill/>
        </p:spPr>
        <p:txBody>
          <a:bodyPr wrap="square" lIns="36576" rIns="36576" tIns="18288" bIns="18288" anchor="t">
            <a:spAutoFit/>
          </a:bodyPr>
          <a:lstStyle/>
          <a:p>
            <a:pPr algn="l" marL="171450" indent="-171450">
              <a:spcAft>
                <a:spcPts val="500"/>
              </a:spcAft>
              <a:buClr>
                <a:srgbClr val="EB9109"/>
              </a:buClr>
              <a:buFont typeface="Arial"/>
              <a:buChar char="•"/>
            </a:pPr>
            <a:r>
              <a:rPr sz="1000" b="1">
                <a:solidFill>
                  <a:srgbClr val="1D1D1D"/>
                </a:solidFill>
                <a:latin typeface="Be Vietnam Pro"/>
              </a:rPr>
              <a:t>Spectrum: </a:t>
            </a:r>
            <a:r>
              <a:rPr sz="1000" b="0">
                <a:solidFill>
                  <a:srgbClr val="1D1D1D"/>
                </a:solidFill>
                <a:latin typeface="Be Vietnam Pro"/>
              </a:rPr>
              <a:t>tổng bandwidth mỗi phase ≤ B_tot, tối đa 2 downlink</a:t>
            </a:r>
          </a:p>
          <a:p>
            <a:pPr algn="l" marL="171450" indent="-171450">
              <a:spcAft>
                <a:spcPts val="500"/>
              </a:spcAft>
              <a:buClr>
                <a:srgbClr val="EB9109"/>
              </a:buClr>
              <a:buFont typeface="Arial"/>
              <a:buChar char="•"/>
            </a:pPr>
            <a:r>
              <a:rPr sz="1000" b="1">
                <a:solidFill>
                  <a:srgbClr val="1D1D1D"/>
                </a:solidFill>
                <a:latin typeface="Be Vietnam Pro"/>
              </a:rPr>
              <a:t>Capacity: </a:t>
            </a:r>
            <a:r>
              <a:rPr sz="1000" b="0">
                <a:solidFill>
                  <a:srgbClr val="1D1D1D"/>
                </a:solidFill>
                <a:latin typeface="Be Vietnam Pro"/>
              </a:rPr>
              <a:t>radio link ≤ t_eΔR(b,s), backhaul edge ≤ ΔC_e</a:t>
            </a:r>
          </a:p>
          <a:p>
            <a:pPr algn="l" marL="171450" indent="-171450">
              <a:spcAft>
                <a:spcPts val="500"/>
              </a:spcAft>
              <a:buClr>
                <a:srgbClr val="EB9109"/>
              </a:buClr>
              <a:buFont typeface="Arial"/>
              <a:buChar char="•"/>
            </a:pPr>
            <a:r>
              <a:rPr sz="1000" b="1">
                <a:solidFill>
                  <a:srgbClr val="1D1D1D"/>
                </a:solidFill>
                <a:latin typeface="Be Vietnam Pro"/>
              </a:rPr>
              <a:t>Causality: </a:t>
            </a:r>
            <a:r>
              <a:rPr sz="1000" b="0">
                <a:solidFill>
                  <a:srgbClr val="1D1D1D"/>
                </a:solidFill>
                <a:latin typeface="Be Vietnam Pro"/>
              </a:rPr>
              <a:t>bit nhận ở slot n chỉ được forward từ slot n+1</a:t>
            </a:r>
          </a:p>
          <a:p>
            <a:pPr algn="l" marL="171450" indent="-171450">
              <a:spcAft>
                <a:spcPts val="500"/>
              </a:spcAft>
              <a:buClr>
                <a:srgbClr val="EB9109"/>
              </a:buClr>
              <a:buFont typeface="Arial"/>
              <a:buChar char="•"/>
            </a:pPr>
            <a:r>
              <a:rPr sz="1000" b="1">
                <a:solidFill>
                  <a:srgbClr val="1D1D1D"/>
                </a:solidFill>
                <a:latin typeface="Be Vietnam Pro"/>
              </a:rPr>
              <a:t>Deadline: </a:t>
            </a:r>
            <a:r>
              <a:rPr sz="1000" b="0">
                <a:solidFill>
                  <a:srgbClr val="1D1D1D"/>
                </a:solidFill>
                <a:latin typeface="Be Vietnam Pro"/>
              </a:rPr>
              <a:t>đầu slot d_a, mọi bit còn lại của alert a bị drop</a:t>
            </a:r>
          </a:p>
          <a:p>
            <a:pPr algn="l" marL="171450" indent="-171450">
              <a:spcAft>
                <a:spcPts val="500"/>
              </a:spcAft>
              <a:buClr>
                <a:srgbClr val="EB9109"/>
              </a:buClr>
              <a:buFont typeface="Arial"/>
              <a:buChar char="•"/>
            </a:pPr>
            <a:r>
              <a:rPr sz="1000" b="1">
                <a:solidFill>
                  <a:srgbClr val="1D1D1D"/>
                </a:solidFill>
                <a:latin typeface="Be Vietnam Pro"/>
              </a:rPr>
              <a:t>Scheduler chung: </a:t>
            </a:r>
            <a:r>
              <a:rPr sz="1000" b="0">
                <a:solidFill>
                  <a:srgbClr val="1D1D1D"/>
                </a:solidFill>
                <a:latin typeface="Be Vietnam Pro"/>
              </a:rPr>
              <a:t>earliest-deadline-first (EDF)</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3" name="Shape 1633"/>
        <p:cNvGrpSpPr/>
        <p:nvPr/>
      </p:nvGrpSpPr>
      <p:grpSpPr>
        <a:xfrm>
          <a:off x="0" y="0"/>
          <a:ext cx="0" cy="0"/>
          <a:chOff x="0" y="0"/>
          <a:chExt cx="0" cy="0"/>
        </a:xfrm>
      </p:grpSpPr>
      <p:sp>
        <p:nvSpPr>
          <p:cNvPr id="1634" name="Google Shape;1634;p4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Phân tích bài toán</a:t>
            </a:r>
          </a:p>
        </p:txBody>
      </p:sp>
      <p:sp>
        <p:nvSpPr>
          <p:cNvPr id="1635" name="Google Shape;1635;p41"/>
          <p:cNvSpPr txBox="1"/>
          <p:nvPr>
            <p:ph idx="1" type="subTitle"/>
          </p:nvPr>
        </p:nvSpPr>
        <p:spPr>
          <a:xfrm>
            <a:off x="4999903" y="2372500"/>
            <a:ext cx="2340300" cy="182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R(b,s) concave theo b nên được chặn trên bởi 10 tangent. LP relax x, z ∈ [0,1] cho bound hợp lệ với mọi realization ω trên trajectory q.</a:t>
            </a:r>
          </a:p>
        </p:txBody>
      </p:sp>
      <p:sp>
        <p:nvSpPr>
          <p:cNvPr id="1636" name="Google Shape;1636;p41"/>
          <p:cNvSpPr txBox="1"/>
          <p:nvPr>
            <p:ph idx="2" type="subTitle"/>
          </p:nvPr>
        </p:nvSpPr>
        <p:spPr>
          <a:xfrm>
            <a:off x="1803800" y="2372500"/>
            <a:ext cx="2340300" cy="182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Reduction từ PARTITION: NP-hard ngay cả khi trajectory cố định, chỉ 2 relay và mỗi alert có 2 candidate path. Độ khó đến từ việc mỗi alert phải đi đúng một path.</a:t>
            </a:r>
          </a:p>
        </p:txBody>
      </p:sp>
      <p:sp>
        <p:nvSpPr>
          <p:cNvPr id="1637" name="Google Shape;1637;p41"/>
          <p:cNvSpPr txBox="1"/>
          <p:nvPr>
            <p:ph idx="3" type="subTitle"/>
          </p:nvPr>
        </p:nvSpPr>
        <p:spPr>
          <a:xfrm>
            <a:off x="4999908" y="2048488"/>
            <a:ext cx="23403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LP upper bound</a:t>
            </a:r>
          </a:p>
        </p:txBody>
      </p:sp>
      <p:sp>
        <p:nvSpPr>
          <p:cNvPr id="1638" name="Google Shape;1638;p41"/>
          <p:cNvSpPr txBox="1"/>
          <p:nvPr>
            <p:ph idx="4" type="subTitle"/>
          </p:nvPr>
        </p:nvSpPr>
        <p:spPr>
          <a:xfrm>
            <a:off x="1803800" y="2048488"/>
            <a:ext cx="23403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NP-hard</a:t>
            </a:r>
          </a:p>
        </p:txBody>
      </p:sp>
      <p:grpSp>
        <p:nvGrpSpPr>
          <p:cNvPr id="1639" name="Google Shape;1639;p41"/>
          <p:cNvGrpSpPr/>
          <p:nvPr/>
        </p:nvGrpSpPr>
        <p:grpSpPr>
          <a:xfrm>
            <a:off x="5097753" y="1560284"/>
            <a:ext cx="336779" cy="341145"/>
            <a:chOff x="3906683" y="713190"/>
            <a:chExt cx="470494" cy="476593"/>
          </a:xfrm>
        </p:grpSpPr>
        <p:sp>
          <p:nvSpPr>
            <p:cNvPr id="1640" name="Google Shape;1640;p41"/>
            <p:cNvSpPr/>
            <p:nvPr/>
          </p:nvSpPr>
          <p:spPr>
            <a:xfrm>
              <a:off x="4044016" y="1026044"/>
              <a:ext cx="150100" cy="13676"/>
            </a:xfrm>
            <a:custGeom>
              <a:rect b="b" l="l" r="r" t="t"/>
              <a:pathLst>
                <a:path extrusionOk="0" h="361" w="3962">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 name="Google Shape;1641;p41"/>
            <p:cNvSpPr/>
            <p:nvPr/>
          </p:nvSpPr>
          <p:spPr>
            <a:xfrm>
              <a:off x="3971391" y="1026044"/>
              <a:ext cx="52774" cy="13676"/>
            </a:xfrm>
            <a:custGeom>
              <a:rect b="b" l="l" r="r" t="t"/>
              <a:pathLst>
                <a:path extrusionOk="0" h="361" w="1393">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41"/>
            <p:cNvSpPr/>
            <p:nvPr/>
          </p:nvSpPr>
          <p:spPr>
            <a:xfrm>
              <a:off x="3970785" y="1052147"/>
              <a:ext cx="225075" cy="13676"/>
            </a:xfrm>
            <a:custGeom>
              <a:rect b="b" l="l" r="r" t="t"/>
              <a:pathLst>
                <a:path extrusionOk="0" h="361" w="5941">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41"/>
            <p:cNvSpPr/>
            <p:nvPr/>
          </p:nvSpPr>
          <p:spPr>
            <a:xfrm>
              <a:off x="4132213" y="1076961"/>
              <a:ext cx="62927" cy="13676"/>
            </a:xfrm>
            <a:custGeom>
              <a:rect b="b" l="l" r="r" t="t"/>
              <a:pathLst>
                <a:path extrusionOk="0" h="361" w="1661">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41"/>
            <p:cNvSpPr/>
            <p:nvPr/>
          </p:nvSpPr>
          <p:spPr>
            <a:xfrm>
              <a:off x="3972376" y="1076923"/>
              <a:ext cx="139530" cy="13714"/>
            </a:xfrm>
            <a:custGeom>
              <a:rect b="b" l="l" r="r" t="t"/>
              <a:pathLst>
                <a:path extrusionOk="0" h="362" w="3683">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41"/>
            <p:cNvSpPr/>
            <p:nvPr/>
          </p:nvSpPr>
          <p:spPr>
            <a:xfrm>
              <a:off x="3971239" y="891969"/>
              <a:ext cx="124187" cy="95622"/>
            </a:xfrm>
            <a:custGeom>
              <a:rect b="b" l="l" r="r" t="t"/>
              <a:pathLst>
                <a:path extrusionOk="0" h="2524" w="3278">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41"/>
            <p:cNvSpPr/>
            <p:nvPr/>
          </p:nvSpPr>
          <p:spPr>
            <a:xfrm>
              <a:off x="3971239" y="788960"/>
              <a:ext cx="273189" cy="63382"/>
            </a:xfrm>
            <a:custGeom>
              <a:rect b="b" l="l" r="r" t="t"/>
              <a:pathLst>
                <a:path extrusionOk="0" h="1673" w="7211">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41"/>
            <p:cNvSpPr/>
            <p:nvPr/>
          </p:nvSpPr>
          <p:spPr>
            <a:xfrm>
              <a:off x="4238101" y="930498"/>
              <a:ext cx="116762" cy="42204"/>
            </a:xfrm>
            <a:custGeom>
              <a:rect b="b" l="l" r="r" t="t"/>
              <a:pathLst>
                <a:path extrusionOk="0" h="1114" w="3082">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41"/>
            <p:cNvSpPr/>
            <p:nvPr/>
          </p:nvSpPr>
          <p:spPr>
            <a:xfrm>
              <a:off x="3906683" y="713190"/>
              <a:ext cx="470494" cy="476593"/>
            </a:xfrm>
            <a:custGeom>
              <a:rect b="b" l="l" r="r" t="t"/>
              <a:pathLst>
                <a:path extrusionOk="0" h="12580" w="12419">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41"/>
            <p:cNvSpPr/>
            <p:nvPr/>
          </p:nvSpPr>
          <p:spPr>
            <a:xfrm>
              <a:off x="4288526" y="1086849"/>
              <a:ext cx="65579" cy="13714"/>
            </a:xfrm>
            <a:custGeom>
              <a:rect b="b" l="l" r="r" t="t"/>
              <a:pathLst>
                <a:path extrusionOk="0" h="362" w="1731">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41"/>
            <p:cNvSpPr/>
            <p:nvPr/>
          </p:nvSpPr>
          <p:spPr>
            <a:xfrm>
              <a:off x="4237647" y="1086849"/>
              <a:ext cx="32846" cy="13714"/>
            </a:xfrm>
            <a:custGeom>
              <a:rect b="b" l="l" r="r" t="t"/>
              <a:pathLst>
                <a:path extrusionOk="0" h="362" w="867">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41"/>
            <p:cNvSpPr/>
            <p:nvPr/>
          </p:nvSpPr>
          <p:spPr>
            <a:xfrm>
              <a:off x="4238594" y="1109239"/>
              <a:ext cx="114981" cy="13639"/>
            </a:xfrm>
            <a:custGeom>
              <a:rect b="b" l="l" r="r" t="t"/>
              <a:pathLst>
                <a:path extrusionOk="0" h="360" w="3035">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41"/>
            <p:cNvSpPr/>
            <p:nvPr/>
          </p:nvSpPr>
          <p:spPr>
            <a:xfrm>
              <a:off x="4238139" y="1002442"/>
              <a:ext cx="54668" cy="49743"/>
            </a:xfrm>
            <a:custGeom>
              <a:rect b="b" l="l" r="r" t="t"/>
              <a:pathLst>
                <a:path extrusionOk="0" h="1313" w="1443">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41"/>
            <p:cNvSpPr/>
            <p:nvPr/>
          </p:nvSpPr>
          <p:spPr>
            <a:xfrm>
              <a:off x="4300157" y="1002404"/>
              <a:ext cx="54706" cy="49743"/>
            </a:xfrm>
            <a:custGeom>
              <a:rect b="b" l="l" r="r" t="t"/>
              <a:pathLst>
                <a:path extrusionOk="0" h="1313" w="1444">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4" name="Google Shape;1654;p41"/>
          <p:cNvGrpSpPr/>
          <p:nvPr/>
        </p:nvGrpSpPr>
        <p:grpSpPr>
          <a:xfrm>
            <a:off x="1901656" y="1560365"/>
            <a:ext cx="284360" cy="341145"/>
            <a:chOff x="3198385" y="713303"/>
            <a:chExt cx="397262" cy="476593"/>
          </a:xfrm>
        </p:grpSpPr>
        <p:sp>
          <p:nvSpPr>
            <p:cNvPr id="1655" name="Google Shape;1655;p41"/>
            <p:cNvSpPr/>
            <p:nvPr/>
          </p:nvSpPr>
          <p:spPr>
            <a:xfrm>
              <a:off x="3198385" y="713303"/>
              <a:ext cx="397262" cy="476593"/>
            </a:xfrm>
            <a:custGeom>
              <a:rect b="b" l="l" r="r" t="t"/>
              <a:pathLst>
                <a:path extrusionOk="0" h="12580" w="10486">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41"/>
            <p:cNvSpPr/>
            <p:nvPr/>
          </p:nvSpPr>
          <p:spPr>
            <a:xfrm>
              <a:off x="3252674" y="1008882"/>
              <a:ext cx="56562" cy="60995"/>
            </a:xfrm>
            <a:custGeom>
              <a:rect b="b" l="l" r="r" t="t"/>
              <a:pathLst>
                <a:path extrusionOk="0" h="1610" w="1493">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41"/>
            <p:cNvSpPr/>
            <p:nvPr/>
          </p:nvSpPr>
          <p:spPr>
            <a:xfrm>
              <a:off x="3329467" y="1008920"/>
              <a:ext cx="56676" cy="60957"/>
            </a:xfrm>
            <a:custGeom>
              <a:rect b="b" l="l" r="r" t="t"/>
              <a:pathLst>
                <a:path extrusionOk="0" h="1609" w="1496">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41"/>
            <p:cNvSpPr/>
            <p:nvPr/>
          </p:nvSpPr>
          <p:spPr>
            <a:xfrm>
              <a:off x="3407814" y="1008920"/>
              <a:ext cx="56562" cy="60957"/>
            </a:xfrm>
            <a:custGeom>
              <a:rect b="b" l="l" r="r" t="t"/>
              <a:pathLst>
                <a:path extrusionOk="0" h="1609" w="1493">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41"/>
            <p:cNvSpPr/>
            <p:nvPr/>
          </p:nvSpPr>
          <p:spPr>
            <a:xfrm>
              <a:off x="3484796" y="1008920"/>
              <a:ext cx="56562" cy="60957"/>
            </a:xfrm>
            <a:custGeom>
              <a:rect b="b" l="l" r="r" t="t"/>
              <a:pathLst>
                <a:path extrusionOk="0" h="1609" w="1493">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41"/>
            <p:cNvSpPr/>
            <p:nvPr/>
          </p:nvSpPr>
          <p:spPr>
            <a:xfrm>
              <a:off x="3342424" y="807220"/>
              <a:ext cx="109260" cy="154343"/>
            </a:xfrm>
            <a:custGeom>
              <a:rect b="b" l="l" r="r" t="t"/>
              <a:pathLst>
                <a:path extrusionOk="0" h="4074" w="2884">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41"/>
            <p:cNvSpPr/>
            <p:nvPr/>
          </p:nvSpPr>
          <p:spPr>
            <a:xfrm>
              <a:off x="3387735" y="903637"/>
              <a:ext cx="18715" cy="18677"/>
            </a:xfrm>
            <a:custGeom>
              <a:rect b="b" l="l" r="r" t="t"/>
              <a:pathLst>
                <a:path extrusionOk="0" h="493" w="494">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03</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Sample-scored block search và biến thể SBS-R</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Phương pháp</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8" name="Shape 2198"/>
        <p:cNvGrpSpPr/>
        <p:nvPr/>
      </p:nvGrpSpPr>
      <p:grpSpPr>
        <a:xfrm>
          <a:off x="0" y="0"/>
          <a:ext cx="0" cy="0"/>
          <a:chOff x="0" y="0"/>
          <a:chExt cx="0" cy="0"/>
        </a:xfrm>
      </p:grpSpPr>
      <p:sp>
        <p:nvSpPr>
          <p:cNvPr id="2199" name="Google Shape;2199;p5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Vì sao không dùng SCA?</a:t>
            </a:r>
          </a:p>
        </p:txBody>
      </p:sp>
      <p:sp>
        <p:nvSpPr>
          <p:cNvPr id="2200" name="Google Shape;2200;p57"/>
          <p:cNvSpPr txBox="1"/>
          <p:nvPr/>
        </p:nvSpPr>
        <p:spPr>
          <a:xfrm>
            <a:off x="5830935" y="3330599"/>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Sampled design</a:t>
            </a:r>
          </a:p>
        </p:txBody>
      </p:sp>
      <p:sp>
        <p:nvSpPr>
          <p:cNvPr id="2201" name="Google Shape;2201;p57"/>
          <p:cNvSpPr txBox="1"/>
          <p:nvPr/>
        </p:nvSpPr>
        <p:spPr>
          <a:xfrm>
            <a:off x="3081075" y="3709040"/>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Chấm mỗi thay đổi bằng chính EDF simulator: 0.427</a:t>
            </a:r>
          </a:p>
        </p:txBody>
      </p:sp>
      <p:sp>
        <p:nvSpPr>
          <p:cNvPr id="2202" name="Google Shape;2202;p57"/>
          <p:cNvSpPr txBox="1"/>
          <p:nvPr/>
        </p:nvSpPr>
        <p:spPr>
          <a:xfrm>
            <a:off x="5830935" y="3709026"/>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Chấm trên M_d = 5 channel realizations (SAA): 0.449</a:t>
            </a:r>
          </a:p>
        </p:txBody>
      </p:sp>
      <p:sp>
        <p:nvSpPr>
          <p:cNvPr id="2203" name="Google Shape;2203;p57"/>
          <p:cNvSpPr txBox="1"/>
          <p:nvPr/>
        </p:nvSpPr>
        <p:spPr>
          <a:xfrm>
            <a:off x="3081075" y="3330613"/>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Evaluated search</a:t>
            </a:r>
          </a:p>
        </p:txBody>
      </p:sp>
      <p:sp>
        <p:nvSpPr>
          <p:cNvPr id="2204" name="Google Shape;2204;p57"/>
          <p:cNvSpPr txBox="1"/>
          <p:nvPr/>
        </p:nvSpPr>
        <p:spPr>
          <a:xfrm>
            <a:off x="1081300" y="1606525"/>
            <a:ext cx="1453800" cy="402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vi-VN" sz="2000">
                <a:solidFill>
                  <a:schemeClr val="dk1"/>
                </a:solidFill>
                <a:latin typeface="IBM Plex Mono"/>
                <a:ea typeface="IBM Plex Mono"/>
                <a:cs typeface="IBM Plex Mono"/>
                <a:sym typeface="IBM Plex Mono"/>
              </a:rPr>
              <a:t>Vấn đề</a:t>
            </a:r>
          </a:p>
        </p:txBody>
      </p:sp>
      <p:sp>
        <p:nvSpPr>
          <p:cNvPr id="2205" name="Google Shape;2205;p57"/>
          <p:cNvSpPr txBox="1"/>
          <p:nvPr/>
        </p:nvSpPr>
        <p:spPr>
          <a:xfrm>
            <a:off x="1081300" y="3631175"/>
            <a:ext cx="1453800" cy="402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vi-VN" sz="2000">
                <a:solidFill>
                  <a:schemeClr val="dk1"/>
                </a:solidFill>
                <a:latin typeface="IBM Plex Mono"/>
                <a:ea typeface="IBM Plex Mono"/>
                <a:cs typeface="IBM Plex Mono"/>
                <a:sym typeface="IBM Plex Mono"/>
              </a:rPr>
              <a:t>Giải pháp</a:t>
            </a:r>
          </a:p>
        </p:txBody>
      </p:sp>
      <p:cxnSp>
        <p:nvCxnSpPr>
          <p:cNvPr id="2206" name="Google Shape;2206;p57"/>
          <p:cNvCxnSpPr/>
          <p:nvPr/>
        </p:nvCxnSpPr>
        <p:spPr>
          <a:xfrm>
            <a:off x="1144100" y="2820300"/>
            <a:ext cx="6918600" cy="600"/>
          </a:xfrm>
          <a:prstGeom prst="bentConnector3">
            <a:avLst>
              <a:gd fmla="val 50000" name="adj1"/>
            </a:avLst>
          </a:prstGeom>
          <a:noFill/>
          <a:ln cap="flat" cmpd="sng" w="9525">
            <a:solidFill>
              <a:schemeClr val="lt2"/>
            </a:solidFill>
            <a:prstDash val="solid"/>
            <a:round/>
            <a:headEnd len="med" w="med" type="none"/>
            <a:tailEnd len="med" w="med" type="none"/>
          </a:ln>
        </p:spPr>
      </p:cxnSp>
      <p:sp>
        <p:nvSpPr>
          <p:cNvPr id="2207" name="Google Shape;2207;p57"/>
          <p:cNvSpPr txBox="1"/>
          <p:nvPr/>
        </p:nvSpPr>
        <p:spPr>
          <a:xfrm>
            <a:off x="5830935" y="1306074"/>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Đếm alert</a:t>
            </a:r>
          </a:p>
        </p:txBody>
      </p:sp>
      <p:sp>
        <p:nvSpPr>
          <p:cNvPr id="2208" name="Google Shape;2208;p57"/>
          <p:cNvSpPr txBox="1"/>
          <p:nvPr/>
        </p:nvSpPr>
        <p:spPr>
          <a:xfrm>
            <a:off x="3081075" y="1684390"/>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Static bandwidth từ LP: 0.410 → 0.128. Path từ LP: 0.412, gần như không đổi</a:t>
            </a:r>
          </a:p>
        </p:txBody>
      </p:sp>
      <p:sp>
        <p:nvSpPr>
          <p:cNvPr id="2209" name="Google Shape;2209;p57"/>
          <p:cNvSpPr txBox="1"/>
          <p:nvPr/>
        </p:nvSpPr>
        <p:spPr>
          <a:xfrm>
            <a:off x="5830935" y="1684376"/>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Số alert đúng hạn thay đổi gián đoạn, PrLoS không có convex surrogate hợp lệ</a:t>
            </a:r>
          </a:p>
        </p:txBody>
      </p:sp>
      <p:sp>
        <p:nvSpPr>
          <p:cNvPr id="2210" name="Google Shape;2210;p57"/>
          <p:cNvSpPr txBox="1"/>
          <p:nvPr/>
        </p:nvSpPr>
        <p:spPr>
          <a:xfrm>
            <a:off x="3081075" y="1306088"/>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LP guidance</a:t>
            </a:r>
          </a:p>
        </p:txBody>
      </p:sp>
      <p:cxnSp>
        <p:nvCxnSpPr>
          <p:cNvPr id="2211" name="Google Shape;2211;p57"/>
          <p:cNvCxnSpPr>
            <a:stCxn id="2210" idx="1"/>
            <a:endCxn id="2203" idx="1"/>
          </p:cNvCxnSpPr>
          <p:nvPr/>
        </p:nvCxnSpPr>
        <p:spPr>
          <a:xfrm>
            <a:off x="3081075" y="1533338"/>
            <a:ext cx="600" cy="2024400"/>
          </a:xfrm>
          <a:prstGeom prst="bentConnector3">
            <a:avLst>
              <a:gd fmla="val -39687500" name="adj1"/>
            </a:avLst>
          </a:prstGeom>
          <a:noFill/>
          <a:ln cap="flat" cmpd="sng" w="9525">
            <a:solidFill>
              <a:schemeClr val="lt2"/>
            </a:solidFill>
            <a:prstDash val="solid"/>
            <a:round/>
            <a:headEnd len="med" w="med" type="oval"/>
            <a:tailEnd len="med" w="med" type="oval"/>
          </a:ln>
        </p:spPr>
      </p:cxnSp>
      <p:cxnSp>
        <p:nvCxnSpPr>
          <p:cNvPr id="2212" name="Google Shape;2212;p57"/>
          <p:cNvCxnSpPr>
            <a:stCxn id="2207" idx="1"/>
            <a:endCxn id="2200" idx="1"/>
          </p:cNvCxnSpPr>
          <p:nvPr/>
        </p:nvCxnSpPr>
        <p:spPr>
          <a:xfrm>
            <a:off x="5830935" y="1533324"/>
            <a:ext cx="600" cy="2024400"/>
          </a:xfrm>
          <a:prstGeom prst="bentConnector3">
            <a:avLst>
              <a:gd fmla="val -39687500" name="adj1"/>
            </a:avLst>
          </a:prstGeom>
          <a:noFill/>
          <a:ln cap="flat" cmpd="sng" w="9525">
            <a:solidFill>
              <a:schemeClr val="lt2"/>
            </a:solidFill>
            <a:prstDash val="solid"/>
            <a:round/>
            <a:headEnd len="med" w="med" type="oval"/>
            <a:tailEnd len="med" w="med" type="oval"/>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5" name="Shape 2225"/>
        <p:cNvGrpSpPr/>
        <p:nvPr/>
      </p:nvGrpSpPr>
      <p:grpSpPr>
        <a:xfrm>
          <a:off x="0" y="0"/>
          <a:ext cx="0" cy="0"/>
          <a:chOff x="0" y="0"/>
          <a:chExt cx="0" cy="0"/>
        </a:xfrm>
      </p:grpSpPr>
      <p:sp>
        <p:nvSpPr>
          <p:cNvPr id="2226" name="Google Shape;2226;p59"/>
          <p:cNvSpPr/>
          <p:nvPr/>
        </p:nvSpPr>
        <p:spPr>
          <a:xfrm>
            <a:off x="3189965"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59"/>
          <p:cNvSpPr/>
          <p:nvPr/>
        </p:nvSpPr>
        <p:spPr>
          <a:xfrm>
            <a:off x="1155800"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5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Sample-scored Block Search</a:t>
            </a:r>
          </a:p>
        </p:txBody>
      </p:sp>
      <p:grpSp>
        <p:nvGrpSpPr>
          <p:cNvPr id="2229" name="Google Shape;2229;p59"/>
          <p:cNvGrpSpPr/>
          <p:nvPr/>
        </p:nvGrpSpPr>
        <p:grpSpPr>
          <a:xfrm>
            <a:off x="3423378" y="2320987"/>
            <a:ext cx="263073" cy="341227"/>
            <a:chOff x="2390298" y="2185817"/>
            <a:chExt cx="367522" cy="476707"/>
          </a:xfrm>
        </p:grpSpPr>
        <p:sp>
          <p:nvSpPr>
            <p:cNvPr id="2230" name="Google Shape;2230;p59"/>
            <p:cNvSpPr/>
            <p:nvPr/>
          </p:nvSpPr>
          <p:spPr>
            <a:xfrm>
              <a:off x="2390298" y="2185817"/>
              <a:ext cx="367522" cy="476707"/>
            </a:xfrm>
            <a:custGeom>
              <a:rect b="b" l="l" r="r" t="t"/>
              <a:pathLst>
                <a:path extrusionOk="0" h="12583" w="9701">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59"/>
            <p:cNvSpPr/>
            <p:nvPr/>
          </p:nvSpPr>
          <p:spPr>
            <a:xfrm>
              <a:off x="2424811" y="2463287"/>
              <a:ext cx="71603" cy="83650"/>
            </a:xfrm>
            <a:custGeom>
              <a:rect b="b" l="l" r="r" t="t"/>
              <a:pathLst>
                <a:path extrusionOk="0" h="2208" w="189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59"/>
            <p:cNvSpPr/>
            <p:nvPr/>
          </p:nvSpPr>
          <p:spPr>
            <a:xfrm>
              <a:off x="2509750" y="2463287"/>
              <a:ext cx="61260" cy="83612"/>
            </a:xfrm>
            <a:custGeom>
              <a:rect b="b" l="l" r="r" t="t"/>
              <a:pathLst>
                <a:path extrusionOk="0" h="2207" w="1617">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59"/>
            <p:cNvSpPr/>
            <p:nvPr/>
          </p:nvSpPr>
          <p:spPr>
            <a:xfrm>
              <a:off x="2585179" y="2463287"/>
              <a:ext cx="61260" cy="83574"/>
            </a:xfrm>
            <a:custGeom>
              <a:rect b="b" l="l" r="r" t="t"/>
              <a:pathLst>
                <a:path extrusionOk="0" h="2206" w="1617">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34" name="Google Shape;2234;p59"/>
          <p:cNvSpPr/>
          <p:nvPr/>
        </p:nvSpPr>
        <p:spPr>
          <a:xfrm>
            <a:off x="5418484" y="2343233"/>
            <a:ext cx="341157" cy="296773"/>
          </a:xfrm>
          <a:custGeom>
            <a:rect b="b" l="l" r="r" t="t"/>
            <a:pathLst>
              <a:path extrusionOk="0" h="10946" w="12583">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35" name="Google Shape;2235;p59"/>
          <p:cNvGrpSpPr/>
          <p:nvPr/>
        </p:nvGrpSpPr>
        <p:grpSpPr>
          <a:xfrm>
            <a:off x="7491709" y="2321047"/>
            <a:ext cx="263073" cy="341145"/>
            <a:chOff x="1612822" y="1436414"/>
            <a:chExt cx="367522" cy="476593"/>
          </a:xfrm>
        </p:grpSpPr>
        <p:sp>
          <p:nvSpPr>
            <p:cNvPr id="2236" name="Google Shape;2236;p59"/>
            <p:cNvSpPr/>
            <p:nvPr/>
          </p:nvSpPr>
          <p:spPr>
            <a:xfrm>
              <a:off x="1612822" y="1436414"/>
              <a:ext cx="367522" cy="476593"/>
            </a:xfrm>
            <a:custGeom>
              <a:rect b="b" l="l" r="r" t="t"/>
              <a:pathLst>
                <a:path extrusionOk="0" h="12580" w="9701">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59"/>
            <p:cNvSpPr/>
            <p:nvPr/>
          </p:nvSpPr>
          <p:spPr>
            <a:xfrm>
              <a:off x="1818879" y="1713202"/>
              <a:ext cx="38037" cy="84749"/>
            </a:xfrm>
            <a:custGeom>
              <a:rect b="b" l="l" r="r" t="t"/>
              <a:pathLst>
                <a:path extrusionOk="0" h="2237" w="1004">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59"/>
            <p:cNvSpPr/>
            <p:nvPr/>
          </p:nvSpPr>
          <p:spPr>
            <a:xfrm>
              <a:off x="1737312" y="1713240"/>
              <a:ext cx="62094" cy="84862"/>
            </a:xfrm>
            <a:custGeom>
              <a:rect b="b" l="l" r="r" t="t"/>
              <a:pathLst>
                <a:path extrusionOk="0" h="2240" w="1639">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59"/>
            <p:cNvSpPr/>
            <p:nvPr/>
          </p:nvSpPr>
          <p:spPr>
            <a:xfrm>
              <a:off x="1656542" y="1713240"/>
              <a:ext cx="62094" cy="84862"/>
            </a:xfrm>
            <a:custGeom>
              <a:rect b="b" l="l" r="r" t="t"/>
              <a:pathLst>
                <a:path extrusionOk="0" h="2240" w="1639">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0" name="Google Shape;2240;p59"/>
          <p:cNvGrpSpPr/>
          <p:nvPr/>
        </p:nvGrpSpPr>
        <p:grpSpPr>
          <a:xfrm>
            <a:off x="1345370" y="2355643"/>
            <a:ext cx="350772" cy="271913"/>
            <a:chOff x="5547407" y="2234234"/>
            <a:chExt cx="490042" cy="379873"/>
          </a:xfrm>
        </p:grpSpPr>
        <p:sp>
          <p:nvSpPr>
            <p:cNvPr id="2241" name="Google Shape;2241;p59"/>
            <p:cNvSpPr/>
            <p:nvPr/>
          </p:nvSpPr>
          <p:spPr>
            <a:xfrm>
              <a:off x="5837379" y="2258860"/>
              <a:ext cx="56828" cy="65503"/>
            </a:xfrm>
            <a:custGeom>
              <a:rect b="b" l="l" r="r" t="t"/>
              <a:pathLst>
                <a:path extrusionOk="0" h="1729" w="150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59"/>
            <p:cNvSpPr/>
            <p:nvPr/>
          </p:nvSpPr>
          <p:spPr>
            <a:xfrm>
              <a:off x="5899889" y="2258860"/>
              <a:ext cx="49288" cy="65465"/>
            </a:xfrm>
            <a:custGeom>
              <a:rect b="b" l="l" r="r" t="t"/>
              <a:pathLst>
                <a:path extrusionOk="0" h="1728" w="1301">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59"/>
            <p:cNvSpPr/>
            <p:nvPr/>
          </p:nvSpPr>
          <p:spPr>
            <a:xfrm>
              <a:off x="5955656" y="2258822"/>
              <a:ext cx="49250" cy="65503"/>
            </a:xfrm>
            <a:custGeom>
              <a:rect b="b" l="l" r="r" t="t"/>
              <a:pathLst>
                <a:path extrusionOk="0" h="1729" w="130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59"/>
            <p:cNvSpPr/>
            <p:nvPr/>
          </p:nvSpPr>
          <p:spPr>
            <a:xfrm>
              <a:off x="5547407" y="2234234"/>
              <a:ext cx="490042" cy="379873"/>
            </a:xfrm>
            <a:custGeom>
              <a:rect b="b" l="l" r="r" t="t"/>
              <a:pathLst>
                <a:path extrusionOk="0" h="10027" w="12935">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59"/>
            <p:cNvSpPr/>
            <p:nvPr/>
          </p:nvSpPr>
          <p:spPr>
            <a:xfrm>
              <a:off x="5847001" y="2368347"/>
              <a:ext cx="35915" cy="13676"/>
            </a:xfrm>
            <a:custGeom>
              <a:rect b="b" l="l" r="r" t="t"/>
              <a:pathLst>
                <a:path extrusionOk="0" h="361" w="948">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59"/>
            <p:cNvSpPr/>
            <p:nvPr/>
          </p:nvSpPr>
          <p:spPr>
            <a:xfrm>
              <a:off x="5847039" y="2426614"/>
              <a:ext cx="35877" cy="13714"/>
            </a:xfrm>
            <a:custGeom>
              <a:rect b="b" l="l" r="r" t="t"/>
              <a:pathLst>
                <a:path extrusionOk="0" h="362" w="947">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59"/>
            <p:cNvSpPr/>
            <p:nvPr/>
          </p:nvSpPr>
          <p:spPr>
            <a:xfrm>
              <a:off x="5847039" y="2456430"/>
              <a:ext cx="35877" cy="13676"/>
            </a:xfrm>
            <a:custGeom>
              <a:rect b="b" l="l" r="r" t="t"/>
              <a:pathLst>
                <a:path extrusionOk="0" h="361" w="947">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59"/>
            <p:cNvSpPr/>
            <p:nvPr/>
          </p:nvSpPr>
          <p:spPr>
            <a:xfrm>
              <a:off x="5749258" y="2484995"/>
              <a:ext cx="35877" cy="13676"/>
            </a:xfrm>
            <a:custGeom>
              <a:rect b="b" l="l" r="r" t="t"/>
              <a:pathLst>
                <a:path extrusionOk="0" h="361" w="947">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59"/>
            <p:cNvSpPr/>
            <p:nvPr/>
          </p:nvSpPr>
          <p:spPr>
            <a:xfrm>
              <a:off x="5804153" y="2484995"/>
              <a:ext cx="78308" cy="13676"/>
            </a:xfrm>
            <a:custGeom>
              <a:rect b="b" l="l" r="r" t="t"/>
              <a:pathLst>
                <a:path extrusionOk="0" h="361" w="2067">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59"/>
            <p:cNvSpPr/>
            <p:nvPr/>
          </p:nvSpPr>
          <p:spPr>
            <a:xfrm>
              <a:off x="5792485" y="2426614"/>
              <a:ext cx="35536" cy="13714"/>
            </a:xfrm>
            <a:custGeom>
              <a:rect b="b" l="l" r="r" t="t"/>
              <a:pathLst>
                <a:path extrusionOk="0" h="362" w="938">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59"/>
            <p:cNvSpPr/>
            <p:nvPr/>
          </p:nvSpPr>
          <p:spPr>
            <a:xfrm>
              <a:off x="5703758" y="2426614"/>
              <a:ext cx="74974" cy="13714"/>
            </a:xfrm>
            <a:custGeom>
              <a:rect b="b" l="l" r="r" t="t"/>
              <a:pathLst>
                <a:path extrusionOk="0" h="362" w="1979">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59"/>
            <p:cNvSpPr/>
            <p:nvPr/>
          </p:nvSpPr>
          <p:spPr>
            <a:xfrm>
              <a:off x="5704630" y="2368347"/>
              <a:ext cx="122747" cy="13676"/>
            </a:xfrm>
            <a:custGeom>
              <a:rect b="b" l="l" r="r" t="t"/>
              <a:pathLst>
                <a:path extrusionOk="0" h="361" w="324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59"/>
            <p:cNvSpPr/>
            <p:nvPr/>
          </p:nvSpPr>
          <p:spPr>
            <a:xfrm>
              <a:off x="5702963" y="2398087"/>
              <a:ext cx="180787" cy="13714"/>
            </a:xfrm>
            <a:custGeom>
              <a:rect b="b" l="l" r="r" t="t"/>
              <a:pathLst>
                <a:path extrusionOk="0" h="362" w="4772">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59"/>
            <p:cNvSpPr/>
            <p:nvPr/>
          </p:nvSpPr>
          <p:spPr>
            <a:xfrm>
              <a:off x="5898411" y="2368347"/>
              <a:ext cx="27618" cy="13676"/>
            </a:xfrm>
            <a:custGeom>
              <a:rect b="b" l="l" r="r" t="t"/>
              <a:pathLst>
                <a:path extrusionOk="0" h="361" w="729">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59"/>
            <p:cNvSpPr/>
            <p:nvPr/>
          </p:nvSpPr>
          <p:spPr>
            <a:xfrm>
              <a:off x="5898411" y="2398087"/>
              <a:ext cx="27618" cy="13714"/>
            </a:xfrm>
            <a:custGeom>
              <a:rect b="b" l="l" r="r" t="t"/>
              <a:pathLst>
                <a:path extrusionOk="0" h="362" w="729">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59"/>
            <p:cNvSpPr/>
            <p:nvPr/>
          </p:nvSpPr>
          <p:spPr>
            <a:xfrm>
              <a:off x="5898411" y="2426652"/>
              <a:ext cx="27618" cy="13714"/>
            </a:xfrm>
            <a:custGeom>
              <a:rect b="b" l="l" r="r" t="t"/>
              <a:pathLst>
                <a:path extrusionOk="0" h="362" w="729">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59"/>
            <p:cNvSpPr/>
            <p:nvPr/>
          </p:nvSpPr>
          <p:spPr>
            <a:xfrm>
              <a:off x="5898411" y="2456430"/>
              <a:ext cx="27618" cy="13676"/>
            </a:xfrm>
            <a:custGeom>
              <a:rect b="b" l="l" r="r" t="t"/>
              <a:pathLst>
                <a:path extrusionOk="0" h="361" w="729">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59"/>
            <p:cNvSpPr/>
            <p:nvPr/>
          </p:nvSpPr>
          <p:spPr>
            <a:xfrm>
              <a:off x="5898411" y="2484995"/>
              <a:ext cx="27618" cy="13676"/>
            </a:xfrm>
            <a:custGeom>
              <a:rect b="b" l="l" r="r" t="t"/>
              <a:pathLst>
                <a:path extrusionOk="0" h="361" w="729">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59" name="Google Shape;2259;p59"/>
          <p:cNvSpPr txBox="1"/>
          <p:nvPr/>
        </p:nvSpPr>
        <p:spPr>
          <a:xfrm>
            <a:off x="734150"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Path</a:t>
            </a:r>
          </a:p>
        </p:txBody>
      </p:sp>
      <p:sp>
        <p:nvSpPr>
          <p:cNvPr id="2260" name="Google Shape;2260;p59"/>
          <p:cNvSpPr txBox="1"/>
          <p:nvPr/>
        </p:nvSpPr>
        <p:spPr>
          <a:xfrm>
            <a:off x="734156"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Theo thứ tự deadline: thử skip alert hoặc từng candidate path</a:t>
            </a:r>
          </a:p>
        </p:txBody>
      </p:sp>
      <p:sp>
        <p:nvSpPr>
          <p:cNvPr id="2261" name="Google Shape;2261;p59"/>
          <p:cNvSpPr txBox="1"/>
          <p:nvPr/>
        </p:nvSpPr>
        <p:spPr>
          <a:xfrm>
            <a:off x="2768315"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Bandwidth</a:t>
            </a:r>
          </a:p>
        </p:txBody>
      </p:sp>
      <p:sp>
        <p:nvSpPr>
          <p:cNvPr id="2262" name="Google Shape;2262;p59"/>
          <p:cNvSpPr txBox="1"/>
          <p:nvPr/>
        </p:nvSpPr>
        <p:spPr>
          <a:xfrm>
            <a:off x="2768315"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rgbClr val="191919"/>
                </a:solidFill>
                <a:latin typeface="Be Vietnam Pro"/>
                <a:ea typeface="Be Vietnam Pro"/>
                <a:cs typeface="Be Vietnam Pro"/>
                <a:sym typeface="Be Vietnam Pro"/>
              </a:rPr>
              <a:t>Mỗi link đang dùng: thử w_e ← 2w_e, rồi w_e/2</a:t>
            </a:r>
          </a:p>
        </p:txBody>
      </p:sp>
      <p:sp>
        <p:nvSpPr>
          <p:cNvPr id="2263" name="Google Shape;2263;p59"/>
          <p:cNvSpPr txBox="1"/>
          <p:nvPr/>
        </p:nvSpPr>
        <p:spPr>
          <a:xfrm>
            <a:off x="734163"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01</a:t>
            </a:r>
            <a:endParaRPr b="1" sz="3000">
              <a:solidFill>
                <a:schemeClr val="lt2"/>
              </a:solidFill>
              <a:latin typeface="Be Vietnam Pro"/>
              <a:ea typeface="Be Vietnam Pro"/>
              <a:cs typeface="Be Vietnam Pro"/>
              <a:sym typeface="Be Vietnam Pro"/>
            </a:endParaRPr>
          </a:p>
        </p:txBody>
      </p:sp>
      <p:sp>
        <p:nvSpPr>
          <p:cNvPr id="2264" name="Google Shape;2264;p59"/>
          <p:cNvSpPr txBox="1"/>
          <p:nvPr/>
        </p:nvSpPr>
        <p:spPr>
          <a:xfrm>
            <a:off x="4802510"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Trajectory</a:t>
            </a:r>
          </a:p>
        </p:txBody>
      </p:sp>
      <p:sp>
        <p:nvSpPr>
          <p:cNvPr id="2265" name="Google Shape;2265;p59"/>
          <p:cNvSpPr txBox="1"/>
          <p:nvPr/>
        </p:nvSpPr>
        <p:spPr>
          <a:xfrm>
            <a:off x="4802510"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Quét family tour khả thi: tập zone, thứ tự, hover time</a:t>
            </a:r>
          </a:p>
        </p:txBody>
      </p:sp>
      <p:sp>
        <p:nvSpPr>
          <p:cNvPr id="2266" name="Google Shape;2266;p59"/>
          <p:cNvSpPr txBox="1"/>
          <p:nvPr/>
        </p:nvSpPr>
        <p:spPr>
          <a:xfrm>
            <a:off x="6836648"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Repair</a:t>
            </a:r>
          </a:p>
        </p:txBody>
      </p:sp>
      <p:sp>
        <p:nvSpPr>
          <p:cNvPr id="2267" name="Google Shape;2267;p59"/>
          <p:cNvSpPr txBox="1"/>
          <p:nvPr/>
        </p:nvSpPr>
        <p:spPr>
          <a:xfrm>
            <a:off x="6836645"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SBS-R: alert có deadline risk cao được tăng weight hoặc đổi path</a:t>
            </a:r>
          </a:p>
        </p:txBody>
      </p:sp>
      <p:sp>
        <p:nvSpPr>
          <p:cNvPr id="2268" name="Google Shape;2268;p59"/>
          <p:cNvSpPr txBox="1"/>
          <p:nvPr/>
        </p:nvSpPr>
        <p:spPr>
          <a:xfrm>
            <a:off x="2768315"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02</a:t>
            </a:r>
            <a:endParaRPr b="1" sz="3000">
              <a:solidFill>
                <a:schemeClr val="lt2"/>
              </a:solidFill>
              <a:latin typeface="Be Vietnam Pro"/>
              <a:ea typeface="Be Vietnam Pro"/>
              <a:cs typeface="Be Vietnam Pro"/>
              <a:sym typeface="Be Vietnam Pro"/>
            </a:endParaRPr>
          </a:p>
        </p:txBody>
      </p:sp>
      <p:sp>
        <p:nvSpPr>
          <p:cNvPr id="2269" name="Google Shape;2269;p59"/>
          <p:cNvSpPr txBox="1"/>
          <p:nvPr/>
        </p:nvSpPr>
        <p:spPr>
          <a:xfrm>
            <a:off x="4802461"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03</a:t>
            </a:r>
            <a:endParaRPr b="1" sz="3000">
              <a:solidFill>
                <a:schemeClr val="lt2"/>
              </a:solidFill>
              <a:latin typeface="Be Vietnam Pro"/>
              <a:ea typeface="Be Vietnam Pro"/>
              <a:cs typeface="Be Vietnam Pro"/>
              <a:sym typeface="Be Vietnam Pro"/>
            </a:endParaRPr>
          </a:p>
        </p:txBody>
      </p:sp>
      <p:sp>
        <p:nvSpPr>
          <p:cNvPr id="2270" name="Google Shape;2270;p59"/>
          <p:cNvSpPr txBox="1"/>
          <p:nvPr/>
        </p:nvSpPr>
        <p:spPr>
          <a:xfrm>
            <a:off x="6836640"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04</a:t>
            </a:r>
            <a:endParaRPr b="1" sz="3000">
              <a:solidFill>
                <a:schemeClr val="lt2"/>
              </a:solidFill>
              <a:latin typeface="Be Vietnam Pro"/>
              <a:ea typeface="Be Vietnam Pro"/>
              <a:cs typeface="Be Vietnam Pro"/>
              <a:sym typeface="Be Vietnam Pro"/>
            </a:endParaRPr>
          </a:p>
        </p:txBody>
      </p:sp>
      <p:sp>
        <p:nvSpPr>
          <p:cNvPr id="2271" name="Google Shape;2271;p59"/>
          <p:cNvSpPr/>
          <p:nvPr/>
        </p:nvSpPr>
        <p:spPr>
          <a:xfrm>
            <a:off x="5224112"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59"/>
          <p:cNvSpPr/>
          <p:nvPr/>
        </p:nvSpPr>
        <p:spPr>
          <a:xfrm>
            <a:off x="7258295"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273" name="Google Shape;2273;p59"/>
          <p:cNvCxnSpPr>
            <a:stCxn id="2263" idx="2"/>
            <a:endCxn id="2227" idx="0"/>
          </p:cNvCxnSpPr>
          <p:nvPr/>
        </p:nvCxnSpPr>
        <p:spPr>
          <a:xfrm flipH="1" rot="-5400000">
            <a:off x="1283313"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74" name="Google Shape;2274;p59"/>
          <p:cNvCxnSpPr>
            <a:stCxn id="2227" idx="2"/>
            <a:endCxn id="2259" idx="0"/>
          </p:cNvCxnSpPr>
          <p:nvPr/>
        </p:nvCxnSpPr>
        <p:spPr>
          <a:xfrm flipH="1" rot="-5400000">
            <a:off x="1286600"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5" name="Google Shape;2275;p59"/>
          <p:cNvCxnSpPr>
            <a:stCxn id="2226" idx="2"/>
            <a:endCxn id="2261" idx="0"/>
          </p:cNvCxnSpPr>
          <p:nvPr/>
        </p:nvCxnSpPr>
        <p:spPr>
          <a:xfrm flipH="1" rot="-5400000">
            <a:off x="3320765"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6" name="Google Shape;2276;p59"/>
          <p:cNvCxnSpPr>
            <a:stCxn id="2271" idx="2"/>
            <a:endCxn id="2264" idx="0"/>
          </p:cNvCxnSpPr>
          <p:nvPr/>
        </p:nvCxnSpPr>
        <p:spPr>
          <a:xfrm flipH="1" rot="-5400000">
            <a:off x="5354912"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7" name="Google Shape;2277;p59"/>
          <p:cNvCxnSpPr>
            <a:stCxn id="2272" idx="2"/>
            <a:endCxn id="2266" idx="0"/>
          </p:cNvCxnSpPr>
          <p:nvPr/>
        </p:nvCxnSpPr>
        <p:spPr>
          <a:xfrm flipH="1" rot="-5400000">
            <a:off x="7389095"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8" name="Google Shape;2278;p59"/>
          <p:cNvCxnSpPr>
            <a:stCxn id="2268" idx="2"/>
            <a:endCxn id="2226" idx="0"/>
          </p:cNvCxnSpPr>
          <p:nvPr/>
        </p:nvCxnSpPr>
        <p:spPr>
          <a:xfrm flipH="1" rot="-5400000">
            <a:off x="3317465"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79" name="Google Shape;2279;p59"/>
          <p:cNvCxnSpPr>
            <a:stCxn id="2269" idx="2"/>
            <a:endCxn id="2271" idx="0"/>
          </p:cNvCxnSpPr>
          <p:nvPr/>
        </p:nvCxnSpPr>
        <p:spPr>
          <a:xfrm flipH="1" rot="-5400000">
            <a:off x="5351611"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80" name="Google Shape;2280;p59"/>
          <p:cNvCxnSpPr>
            <a:stCxn id="2270" idx="2"/>
            <a:endCxn id="2272" idx="0"/>
          </p:cNvCxnSpPr>
          <p:nvPr/>
        </p:nvCxnSpPr>
        <p:spPr>
          <a:xfrm flipH="1" rot="-5400000">
            <a:off x="7385790"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sp>
        <p:nvSpPr>
          <p:cNvPr id="2281" name="TextBox 2280"/>
          <p:cNvSpPr txBox="1"/>
          <p:nvPr/>
        </p:nvSpPr>
        <p:spPr>
          <a:xfrm>
            <a:off x="722376" y="1005840"/>
            <a:ext cx="7708392" cy="228600"/>
          </a:xfrm>
          <a:prstGeom prst="rect">
            <a:avLst/>
          </a:prstGeom>
          <a:noFill/>
        </p:spPr>
        <p:txBody>
          <a:bodyPr wrap="square" lIns="36576" rIns="36576" tIns="18288" bIns="18288" anchor="t">
            <a:spAutoFit/>
          </a:bodyPr>
          <a:lstStyle/>
          <a:p>
            <a:pPr algn="l">
              <a:spcAft>
                <a:spcPts val="400"/>
              </a:spcAft>
            </a:pPr>
            <a:r>
              <a:rPr sz="900" b="0">
                <a:solidFill>
                  <a:srgbClr val="8208D5"/>
                </a:solidFill>
                <a:latin typeface="Be Vietnam Pro"/>
              </a:rPr>
              <a:t>Mỗi thử nghiệm chấm bằng EDF simulation trên M_d = 5 design realizations · nhận nếu key tăng ngặt · ≤ 10 rounds, budget E = 2000</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04</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Wide &amp; Narrow (Topology Zoo + SNDlib), case study RescueNet</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Kết quả</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30 × 2 scenarios</a:t>
            </a:r>
          </a:p>
        </p:txBody>
      </p:sp>
      <p:sp>
        <p:nvSpPr>
          <p:cNvPr id="1917" name="Google Shape;1917;p48"/>
          <p:cNvSpPr txBox="1"/>
          <p:nvPr>
            <p:ph idx="1" type="subTitle"/>
          </p:nvPr>
        </p:nvSpPr>
        <p:spPr>
          <a:xfrm>
            <a:off x="2358450" y="1282313"/>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Wide (backhaul 1000 kbit/s) và Narrow (50 kbit/s), cùng seed</a:t>
            </a:r>
          </a:p>
        </p:txBody>
      </p:sp>
      <p:sp>
        <p:nvSpPr>
          <p:cNvPr id="1918" name="Google Shape;1918;p48"/>
          <p:cNvSpPr txBox="1"/>
          <p:nvPr>
            <p:ph idx="2" type="title"/>
          </p:nvPr>
        </p:nvSpPr>
        <p:spPr>
          <a:xfrm>
            <a:off x="2358450" y="2027244"/>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10 topologies</a:t>
            </a:r>
          </a:p>
        </p:txBody>
      </p:sp>
      <p:sp>
        <p:nvSpPr>
          <p:cNvPr id="1919" name="Google Shape;1919;p48"/>
          <p:cNvSpPr txBox="1"/>
          <p:nvPr>
            <p:ph idx="3" type="subTitle"/>
          </p:nvPr>
        </p:nvSpPr>
        <p:spPr>
          <a:xfrm>
            <a:off x="2358450" y="2645558"/>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Từ Topology Zoo, alert size theo SNDlib abilene, 30 realizations mỗi plan</a:t>
            </a:r>
          </a:p>
        </p:txBody>
      </p:sp>
      <p:sp>
        <p:nvSpPr>
          <p:cNvPr id="1920" name="Google Shape;1920;p48"/>
          <p:cNvSpPr txBox="1"/>
          <p:nvPr>
            <p:ph idx="4" type="title"/>
          </p:nvPr>
        </p:nvSpPr>
        <p:spPr>
          <a:xfrm>
            <a:off x="2358450" y="3390475"/>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63 targets</a:t>
            </a:r>
          </a:p>
        </p:txBody>
      </p:sp>
      <p:sp>
        <p:nvSpPr>
          <p:cNvPr id="1921" name="Google Shape;1921;p48"/>
          <p:cNvSpPr txBox="1"/>
          <p:nvPr>
            <p:ph idx="5" type="subTitle"/>
          </p:nvPr>
        </p:nvSpPr>
        <p:spPr>
          <a:xfrm>
            <a:off x="2358450" y="4009779"/>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Case study đặt source tại nhà bị hư hại trong ảnh RescueNet</a:t>
            </a:r>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48"/>
            <p:cNvSpPr/>
            <p:nvPr/>
          </p:nvSpPr>
          <p:spPr>
            <a:xfrm>
              <a:off x="7191305" y="-124437"/>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48"/>
            <p:cNvSpPr/>
            <p:nvPr/>
          </p:nvSpPr>
          <p:spPr>
            <a:xfrm>
              <a:off x="7867013" y="75068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48"/>
            <p:cNvSpPr/>
            <p:nvPr/>
          </p:nvSpPr>
          <p:spPr>
            <a:xfrm>
              <a:off x="7789451" y="-2619788"/>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48"/>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3">
              <a:alphaModFix/>
            </a:blip>
            <a:srcRect b="26177" l="16960" r="7121" t="24719"/>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48"/>
              <p:cNvSpPr/>
              <p:nvPr/>
            </p:nvSpPr>
            <p:spPr>
              <a:xfrm rot="5400000">
                <a:off x="537866" y="3393994"/>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48"/>
              <p:cNvSpPr/>
              <p:nvPr/>
            </p:nvSpPr>
            <p:spPr>
              <a:xfrm rot="5400000">
                <a:off x="67406" y="3278257"/>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48"/>
              <p:cNvSpPr/>
              <p:nvPr/>
            </p:nvSpPr>
            <p:spPr>
              <a:xfrm rot="5400000">
                <a:off x="417006" y="375669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4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4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0" name="Shape 2300"/>
        <p:cNvGrpSpPr/>
        <p:nvPr/>
      </p:nvGrpSpPr>
      <p:grpSpPr>
        <a:xfrm>
          <a:off x="0" y="0"/>
          <a:ext cx="0" cy="0"/>
          <a:chOff x="0" y="0"/>
          <a:chExt cx="0" cy="0"/>
        </a:xfrm>
      </p:grpSpPr>
      <p:sp>
        <p:nvSpPr>
          <p:cNvPr id="2301" name="Google Shape;2301;p6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Timely-delivery ratio</a:t>
            </a:r>
          </a:p>
        </p:txBody>
      </p:sp>
      <p:sp>
        <p:nvSpPr>
          <p:cNvPr id="2303" name="Google Shape;2303;p61"/>
          <p:cNvSpPr txBox="1"/>
          <p:nvPr/>
        </p:nvSpPr>
        <p:spPr>
          <a:xfrm>
            <a:off x="5973520" y="1213988"/>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SBS: 0.551</a:t>
            </a:r>
          </a:p>
        </p:txBody>
      </p:sp>
      <p:sp>
        <p:nvSpPr>
          <p:cNvPr id="2304" name="Google Shape;2304;p61"/>
          <p:cNvSpPr txBox="1"/>
          <p:nvPr/>
        </p:nvSpPr>
        <p:spPr>
          <a:xfrm>
            <a:off x="5973513" y="1543438"/>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FixedTour 0.494, NoUAV 0.413 (Wide)</a:t>
            </a:r>
          </a:p>
        </p:txBody>
      </p:sp>
      <p:grpSp>
        <p:nvGrpSpPr>
          <p:cNvPr id="2305" name="Google Shape;2305;p61"/>
          <p:cNvGrpSpPr/>
          <p:nvPr/>
        </p:nvGrpSpPr>
        <p:grpSpPr>
          <a:xfrm>
            <a:off x="5568459" y="1213992"/>
            <a:ext cx="285579" cy="285597"/>
            <a:chOff x="5204821" y="1321454"/>
            <a:chExt cx="285579" cy="285597"/>
          </a:xfrm>
        </p:grpSpPr>
        <p:sp>
          <p:nvSpPr>
            <p:cNvPr id="2306" name="Google Shape;2306;p61"/>
            <p:cNvSpPr/>
            <p:nvPr/>
          </p:nvSpPr>
          <p:spPr>
            <a:xfrm>
              <a:off x="5204821" y="1321454"/>
              <a:ext cx="285579" cy="285597"/>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61"/>
            <p:cNvSpPr/>
            <p:nvPr/>
          </p:nvSpPr>
          <p:spPr>
            <a:xfrm>
              <a:off x="5261536" y="1378160"/>
              <a:ext cx="172110" cy="172121"/>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08" name="Google Shape;2308;p61"/>
          <p:cNvSpPr txBox="1"/>
          <p:nvPr/>
        </p:nvSpPr>
        <p:spPr>
          <a:xfrm>
            <a:off x="5973520" y="2441763"/>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Backhaul hẹp</a:t>
            </a:r>
          </a:p>
        </p:txBody>
      </p:sp>
      <p:sp>
        <p:nvSpPr>
          <p:cNvPr id="2309" name="Google Shape;2309;p61"/>
          <p:cNvSpPr txBox="1"/>
          <p:nvPr/>
        </p:nvSpPr>
        <p:spPr>
          <a:xfrm>
            <a:off x="5973513" y="2771213"/>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Hơn FixedTour: +0.057 → +0.079</a:t>
            </a:r>
          </a:p>
        </p:txBody>
      </p:sp>
      <p:grpSp>
        <p:nvGrpSpPr>
          <p:cNvPr id="2310" name="Google Shape;2310;p61"/>
          <p:cNvGrpSpPr/>
          <p:nvPr/>
        </p:nvGrpSpPr>
        <p:grpSpPr>
          <a:xfrm>
            <a:off x="5568459" y="2441767"/>
            <a:ext cx="285579" cy="285597"/>
            <a:chOff x="5204821" y="2495492"/>
            <a:chExt cx="285579" cy="285597"/>
          </a:xfrm>
        </p:grpSpPr>
        <p:sp>
          <p:nvSpPr>
            <p:cNvPr id="2311" name="Google Shape;2311;p61"/>
            <p:cNvSpPr/>
            <p:nvPr/>
          </p:nvSpPr>
          <p:spPr>
            <a:xfrm>
              <a:off x="5204821" y="2495492"/>
              <a:ext cx="285579" cy="285597"/>
            </a:xfrm>
            <a:prstGeom prst="ellipse">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61"/>
            <p:cNvSpPr/>
            <p:nvPr/>
          </p:nvSpPr>
          <p:spPr>
            <a:xfrm>
              <a:off x="5261536" y="2552197"/>
              <a:ext cx="172110" cy="172121"/>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13" name="Google Shape;2313;p61"/>
          <p:cNvSpPr txBox="1"/>
          <p:nvPr/>
        </p:nvSpPr>
        <p:spPr>
          <a:xfrm>
            <a:off x="5973520" y="3669513"/>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SBS-Lex: 0.367</a:t>
            </a:r>
          </a:p>
        </p:txBody>
      </p:sp>
      <p:sp>
        <p:nvSpPr>
          <p:cNvPr id="2314" name="Google Shape;2314;p61"/>
          <p:cNvSpPr txBox="1"/>
          <p:nvPr/>
        </p:nvSpPr>
        <p:spPr>
          <a:xfrm>
            <a:off x="5973513" y="3998963"/>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Objective kiểu max-min không hợp với deadline</a:t>
            </a:r>
          </a:p>
        </p:txBody>
      </p:sp>
      <p:grpSp>
        <p:nvGrpSpPr>
          <p:cNvPr id="2315" name="Google Shape;2315;p61"/>
          <p:cNvGrpSpPr/>
          <p:nvPr/>
        </p:nvGrpSpPr>
        <p:grpSpPr>
          <a:xfrm>
            <a:off x="5568459" y="3669517"/>
            <a:ext cx="285579" cy="285597"/>
            <a:chOff x="5204821" y="3669529"/>
            <a:chExt cx="285579" cy="285597"/>
          </a:xfrm>
        </p:grpSpPr>
        <p:sp>
          <p:nvSpPr>
            <p:cNvPr id="2316" name="Google Shape;2316;p61"/>
            <p:cNvSpPr/>
            <p:nvPr/>
          </p:nvSpPr>
          <p:spPr>
            <a:xfrm>
              <a:off x="5204821" y="3669529"/>
              <a:ext cx="285579" cy="285597"/>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61"/>
            <p:cNvSpPr/>
            <p:nvPr/>
          </p:nvSpPr>
          <p:spPr>
            <a:xfrm>
              <a:off x="5261536" y="3726235"/>
              <a:ext cx="172110" cy="172121"/>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2318" name="Chart 2317"/>
          <p:cNvGraphicFramePr>
            <a:graphicFrameLocks noGrp="1"/>
          </p:cNvGraphicFramePr>
          <p:nvPr/>
        </p:nvGraphicFramePr>
        <p:xfrm>
          <a:off x="640080" y="1143000"/>
          <a:ext cx="4754880" cy="3520440"/>
        </p:xfrm>
        <a:graphic>
          <a:graphicData uri="http://schemas.openxmlformats.org/drawingml/2006/chart">
            <c:chart r:id="rId6"/>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5" name="Shape 1855"/>
        <p:cNvGrpSpPr/>
        <p:nvPr/>
      </p:nvGrpSpPr>
      <p:grpSpPr>
        <a:xfrm>
          <a:off x="0" y="0"/>
          <a:ext cx="0" cy="0"/>
          <a:chOff x="0" y="0"/>
          <a:chExt cx="0" cy="0"/>
        </a:xfrm>
      </p:grpSpPr>
      <p:sp>
        <p:nvSpPr>
          <p:cNvPr id="1856" name="Google Shape;1856;p47"/>
          <p:cNvSpPr txBox="1"/>
          <p:nvPr>
            <p:ph type="title"/>
          </p:nvPr>
        </p:nvSpPr>
        <p:spPr>
          <a:xfrm>
            <a:off x="713225" y="1766475"/>
            <a:ext cx="6576000" cy="1036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+0.057</a:t>
            </a:r>
          </a:p>
        </p:txBody>
      </p:sp>
      <p:sp>
        <p:nvSpPr>
          <p:cNvPr id="1857" name="Google Shape;1857;p47"/>
          <p:cNvSpPr txBox="1"/>
          <p:nvPr>
            <p:ph idx="1" type="subTitle"/>
          </p:nvPr>
        </p:nvSpPr>
        <p:spPr>
          <a:xfrm>
            <a:off x="713225" y="3118375"/>
            <a:ext cx="6576000" cy="73152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hơn FixedTour trên cả 10/10 topologies (p_Holm = 0.0156), và +0.079 khi backhaul hẹp</a:t>
            </a:r>
          </a:p>
        </p:txBody>
      </p:sp>
      <p:grpSp>
        <p:nvGrpSpPr>
          <p:cNvPr id="1858" name="Google Shape;1858;p47"/>
          <p:cNvGrpSpPr/>
          <p:nvPr/>
        </p:nvGrpSpPr>
        <p:grpSpPr>
          <a:xfrm>
            <a:off x="6527600" y="-628478"/>
            <a:ext cx="5128253" cy="6694378"/>
            <a:chOff x="6222800" y="-628478"/>
            <a:chExt cx="5128253" cy="6694378"/>
          </a:xfrm>
        </p:grpSpPr>
        <p:pic>
          <p:nvPicPr>
            <p:cNvPr id="1859" name="Google Shape;1859;p47"/>
            <p:cNvPicPr preferRelativeResize="0"/>
            <p:nvPr/>
          </p:nvPicPr>
          <p:blipFill rotWithShape="1">
            <a:blip r:embed="rId3">
              <a:alphaModFix/>
            </a:blip>
            <a:srcRect b="17664" l="0" r="0" t="17657"/>
            <a:stretch/>
          </p:blipFill>
          <p:spPr>
            <a:xfrm>
              <a:off x="7517168" y="-628478"/>
              <a:ext cx="3082266" cy="2352450"/>
            </a:xfrm>
            <a:prstGeom prst="rect">
              <a:avLst/>
            </a:prstGeom>
            <a:noFill/>
            <a:ln>
              <a:noFill/>
            </a:ln>
          </p:spPr>
        </p:pic>
        <p:pic>
          <p:nvPicPr>
            <p:cNvPr id="1860" name="Google Shape;1860;p47"/>
            <p:cNvPicPr preferRelativeResize="0"/>
            <p:nvPr/>
          </p:nvPicPr>
          <p:blipFill rotWithShape="1">
            <a:blip r:embed="rId4">
              <a:alphaModFix/>
            </a:blip>
            <a:srcRect b="26177" l="16960" r="7121" t="24719"/>
            <a:stretch/>
          </p:blipFill>
          <p:spPr>
            <a:xfrm>
              <a:off x="6714900" y="3028141"/>
              <a:ext cx="3980176" cy="3037760"/>
            </a:xfrm>
            <a:prstGeom prst="rect">
              <a:avLst/>
            </a:prstGeom>
            <a:noFill/>
            <a:ln>
              <a:noFill/>
            </a:ln>
          </p:spPr>
        </p:pic>
        <p:sp>
          <p:nvSpPr>
            <p:cNvPr id="1861" name="Google Shape;1861;p47"/>
            <p:cNvSpPr/>
            <p:nvPr/>
          </p:nvSpPr>
          <p:spPr>
            <a:xfrm rot="10800000">
              <a:off x="7698559" y="2460647"/>
              <a:ext cx="1239218" cy="2912943"/>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47"/>
            <p:cNvSpPr/>
            <p:nvPr/>
          </p:nvSpPr>
          <p:spPr>
            <a:xfrm rot="10800000">
              <a:off x="7899688" y="2461423"/>
              <a:ext cx="1239218" cy="2912943"/>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47"/>
            <p:cNvSpPr/>
            <p:nvPr/>
          </p:nvSpPr>
          <p:spPr>
            <a:xfrm>
              <a:off x="6222800" y="-628462"/>
              <a:ext cx="3980181" cy="6461569"/>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64" name="Google Shape;1864;p47"/>
            <p:cNvGrpSpPr/>
            <p:nvPr/>
          </p:nvGrpSpPr>
          <p:grpSpPr>
            <a:xfrm>
              <a:off x="6794737" y="4179460"/>
              <a:ext cx="734664" cy="735137"/>
              <a:chOff x="959750" y="3039275"/>
              <a:chExt cx="582050" cy="582425"/>
            </a:xfrm>
          </p:grpSpPr>
          <p:sp>
            <p:nvSpPr>
              <p:cNvPr id="1865" name="Google Shape;1865;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 name="Google Shape;1871;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2" name="Google Shape;1872;p47"/>
            <p:cNvGrpSpPr/>
            <p:nvPr/>
          </p:nvGrpSpPr>
          <p:grpSpPr>
            <a:xfrm>
              <a:off x="8128313" y="1310040"/>
              <a:ext cx="169158" cy="169158"/>
              <a:chOff x="8356813" y="1074288"/>
              <a:chExt cx="351900" cy="351900"/>
            </a:xfrm>
          </p:grpSpPr>
          <p:sp>
            <p:nvSpPr>
              <p:cNvPr id="1873" name="Google Shape;1873;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5" name="Google Shape;1875;p47"/>
            <p:cNvGrpSpPr/>
            <p:nvPr/>
          </p:nvGrpSpPr>
          <p:grpSpPr>
            <a:xfrm>
              <a:off x="7360240" y="2075006"/>
              <a:ext cx="169158" cy="169158"/>
              <a:chOff x="8356813" y="1074288"/>
              <a:chExt cx="351900" cy="351900"/>
            </a:xfrm>
          </p:grpSpPr>
          <p:sp>
            <p:nvSpPr>
              <p:cNvPr id="1876" name="Google Shape;1876;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8" name="Google Shape;1878;p47"/>
            <p:cNvGrpSpPr/>
            <p:nvPr/>
          </p:nvGrpSpPr>
          <p:grpSpPr>
            <a:xfrm>
              <a:off x="8233587" y="3028150"/>
              <a:ext cx="169158" cy="169158"/>
              <a:chOff x="8356813" y="1074288"/>
              <a:chExt cx="351900" cy="351900"/>
            </a:xfrm>
          </p:grpSpPr>
          <p:sp>
            <p:nvSpPr>
              <p:cNvPr id="1879" name="Google Shape;1879;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81" name="Google Shape;1881;p47"/>
            <p:cNvSpPr/>
            <p:nvPr/>
          </p:nvSpPr>
          <p:spPr>
            <a:xfrm>
              <a:off x="8754821" y="2763320"/>
              <a:ext cx="606949" cy="600556"/>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82" name="Google Shape;1882;p47"/>
            <p:cNvGrpSpPr/>
            <p:nvPr/>
          </p:nvGrpSpPr>
          <p:grpSpPr>
            <a:xfrm>
              <a:off x="8782808" y="2723340"/>
              <a:ext cx="883449" cy="2083923"/>
              <a:chOff x="8337812" y="3492483"/>
              <a:chExt cx="699928" cy="1651024"/>
            </a:xfrm>
          </p:grpSpPr>
          <p:sp>
            <p:nvSpPr>
              <p:cNvPr id="1883" name="Google Shape;1883;p47"/>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47"/>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47"/>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6" name="Google Shape;1886;p47"/>
            <p:cNvGrpSpPr/>
            <p:nvPr/>
          </p:nvGrpSpPr>
          <p:grpSpPr>
            <a:xfrm>
              <a:off x="8215673" y="4178313"/>
              <a:ext cx="1141869" cy="916509"/>
              <a:chOff x="7945225" y="4302000"/>
              <a:chExt cx="904666" cy="726121"/>
            </a:xfrm>
          </p:grpSpPr>
          <p:sp>
            <p:nvSpPr>
              <p:cNvPr id="1887" name="Google Shape;1887;p47"/>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47"/>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 name="Google Shape;1889;p47"/>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90" name="Google Shape;1890;p47"/>
            <p:cNvSpPr/>
            <p:nvPr/>
          </p:nvSpPr>
          <p:spPr>
            <a:xfrm rot="5400000">
              <a:off x="8491754" y="371428"/>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91" name="Google Shape;1891;p47"/>
            <p:cNvGrpSpPr/>
            <p:nvPr/>
          </p:nvGrpSpPr>
          <p:grpSpPr>
            <a:xfrm>
              <a:off x="7774724" y="3187835"/>
              <a:ext cx="734664" cy="735137"/>
              <a:chOff x="959750" y="3039275"/>
              <a:chExt cx="582050" cy="582425"/>
            </a:xfrm>
          </p:grpSpPr>
          <p:sp>
            <p:nvSpPr>
              <p:cNvPr id="1892" name="Google Shape;1892;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9" name="Google Shape;1899;p47"/>
            <p:cNvGrpSpPr/>
            <p:nvPr/>
          </p:nvGrpSpPr>
          <p:grpSpPr>
            <a:xfrm>
              <a:off x="7625399" y="3691035"/>
              <a:ext cx="734664" cy="735137"/>
              <a:chOff x="959750" y="3039275"/>
              <a:chExt cx="582050" cy="582425"/>
            </a:xfrm>
          </p:grpSpPr>
          <p:sp>
            <p:nvSpPr>
              <p:cNvPr id="1900" name="Google Shape;1900;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 name="Google Shape;1902;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07" name="Google Shape;1907;p47"/>
            <p:cNvSpPr/>
            <p:nvPr/>
          </p:nvSpPr>
          <p:spPr>
            <a:xfrm rot="5400000">
              <a:off x="8666054" y="247478"/>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8" name="Google Shape;1908;p47"/>
          <p:cNvGrpSpPr/>
          <p:nvPr/>
        </p:nvGrpSpPr>
        <p:grpSpPr>
          <a:xfrm>
            <a:off x="741975" y="2893476"/>
            <a:ext cx="5132617" cy="134100"/>
            <a:chOff x="741975" y="2893476"/>
            <a:chExt cx="5132617" cy="134100"/>
          </a:xfrm>
        </p:grpSpPr>
        <p:sp>
          <p:nvSpPr>
            <p:cNvPr id="1909" name="Google Shape;1909;p47"/>
            <p:cNvSpPr/>
            <p:nvPr/>
          </p:nvSpPr>
          <p:spPr>
            <a:xfrm>
              <a:off x="5740492" y="2893476"/>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10" name="Google Shape;1910;p47"/>
            <p:cNvCxnSpPr/>
            <p:nvPr/>
          </p:nvCxnSpPr>
          <p:spPr>
            <a:xfrm>
              <a:off x="741975" y="2960525"/>
              <a:ext cx="5036400" cy="0"/>
            </a:xfrm>
            <a:prstGeom prst="straightConnector1">
              <a:avLst/>
            </a:prstGeom>
            <a:noFill/>
            <a:ln cap="flat" cmpd="sng" w="9525">
              <a:solidFill>
                <a:schemeClr val="dk2"/>
              </a:solidFill>
              <a:prstDash val="solid"/>
              <a:round/>
              <a:headEnd len="med" w="med" type="none"/>
              <a:tailEnd len="med" w="med" type="none"/>
            </a:ln>
          </p:spPr>
        </p:cxnSp>
        <p:sp>
          <p:nvSpPr>
            <p:cNvPr id="1911" name="Google Shape;1911;p47"/>
            <p:cNvSpPr/>
            <p:nvPr/>
          </p:nvSpPr>
          <p:spPr>
            <a:xfrm>
              <a:off x="5770604" y="2923618"/>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1" name="Shape 2121"/>
        <p:cNvGrpSpPr/>
        <p:nvPr/>
      </p:nvGrpSpPr>
      <p:grpSpPr>
        <a:xfrm>
          <a:off x="0" y="0"/>
          <a:ext cx="0" cy="0"/>
          <a:chOff x="0" y="0"/>
          <a:chExt cx="0" cy="0"/>
        </a:xfrm>
      </p:grpSpPr>
      <p:sp>
        <p:nvSpPr>
          <p:cNvPr id="2122" name="Google Shape;2122;p5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Ablation: gain đến từ đâu?</a:t>
            </a:r>
          </a:p>
        </p:txBody>
      </p:sp>
      <p:sp>
        <p:nvSpPr>
          <p:cNvPr id="2123" name="Google Shape;2123;p54"/>
          <p:cNvSpPr txBox="1"/>
          <p:nvPr/>
        </p:nvSpPr>
        <p:spPr>
          <a:xfrm>
            <a:off x="4020025" y="1365213"/>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path block: </a:t>
            </a:r>
            <a:r>
              <a:rPr lang="vi-VN" b="1">
                <a:solidFill>
                  <a:schemeClr val="dk1"/>
                </a:solidFill>
                <a:latin typeface="Be Vietnam Pro"/>
                <a:ea typeface="Be Vietnam Pro"/>
                <a:cs typeface="Be Vietnam Pro"/>
                <a:sym typeface="Be Vietnam Pro"/>
              </a:rPr>
              <a:t>−0.050</a:t>
            </a:r>
            <a:r>
              <a:rPr lang="vi-VN" b="0">
                <a:solidFill>
                  <a:schemeClr val="dk1"/>
                </a:solidFill>
                <a:latin typeface="Be Vietnam Pro"/>
                <a:ea typeface="Be Vietnam Pro"/>
                <a:cs typeface="Be Vietnam Pro"/>
                <a:sym typeface="Be Vietnam Pro"/>
              </a:rPr>
              <a:t> (Wide), </a:t>
            </a:r>
            <a:r>
              <a:rPr lang="vi-VN" b="1">
                <a:solidFill>
                  <a:schemeClr val="dk1"/>
                </a:solidFill>
                <a:latin typeface="Be Vietnam Pro"/>
                <a:ea typeface="Be Vietnam Pro"/>
                <a:cs typeface="Be Vietnam Pro"/>
                <a:sym typeface="Be Vietnam Pro"/>
              </a:rPr>
              <a:t>−0.065</a:t>
            </a:r>
            <a:r>
              <a:rPr lang="vi-VN" b="0">
                <a:solidFill>
                  <a:schemeClr val="dk1"/>
                </a:solidFill>
                <a:latin typeface="Be Vietnam Pro"/>
                <a:ea typeface="Be Vietnam Pro"/>
                <a:cs typeface="Be Vietnam Pro"/>
                <a:sym typeface="Be Vietnam Pro"/>
              </a:rPr>
              <a:t> (Narrow)</a:t>
            </a:r>
          </a:p>
        </p:txBody>
      </p:sp>
      <p:sp>
        <p:nvSpPr>
          <p:cNvPr id="2124" name="Google Shape;2124;p54"/>
          <p:cNvSpPr txBox="1"/>
          <p:nvPr/>
        </p:nvSpPr>
        <p:spPr>
          <a:xfrm>
            <a:off x="2183175" y="1363563"/>
            <a:ext cx="13134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Path</a:t>
            </a:r>
          </a:p>
        </p:txBody>
      </p:sp>
      <p:sp>
        <p:nvSpPr>
          <p:cNvPr id="2125" name="Google Shape;2125;p54"/>
          <p:cNvSpPr txBox="1"/>
          <p:nvPr/>
        </p:nvSpPr>
        <p:spPr>
          <a:xfrm>
            <a:off x="782975" y="1363563"/>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01</a:t>
            </a:r>
            <a:endParaRPr b="1" sz="3000">
              <a:solidFill>
                <a:schemeClr val="dk2"/>
              </a:solidFill>
              <a:latin typeface="Be Vietnam Pro"/>
              <a:ea typeface="Be Vietnam Pro"/>
              <a:cs typeface="Be Vietnam Pro"/>
              <a:sym typeface="Be Vietnam Pro"/>
            </a:endParaRPr>
          </a:p>
        </p:txBody>
      </p:sp>
      <p:sp>
        <p:nvSpPr>
          <p:cNvPr id="2126" name="Google Shape;2126;p54"/>
          <p:cNvSpPr txBox="1"/>
          <p:nvPr/>
        </p:nvSpPr>
        <p:spPr>
          <a:xfrm>
            <a:off x="4020025" y="226410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trajectory block: </a:t>
            </a:r>
            <a:r>
              <a:rPr lang="vi-VN" b="1">
                <a:solidFill>
                  <a:schemeClr val="dk1"/>
                </a:solidFill>
                <a:latin typeface="Be Vietnam Pro"/>
                <a:ea typeface="Be Vietnam Pro"/>
                <a:cs typeface="Be Vietnam Pro"/>
                <a:sym typeface="Be Vietnam Pro"/>
              </a:rPr>
              <a:t>−0.048</a:t>
            </a:r>
            <a:r>
              <a:rPr lang="vi-VN" b="0">
                <a:solidFill>
                  <a:schemeClr val="dk1"/>
                </a:solidFill>
                <a:latin typeface="Be Vietnam Pro"/>
                <a:ea typeface="Be Vietnam Pro"/>
                <a:cs typeface="Be Vietnam Pro"/>
                <a:sym typeface="Be Vietnam Pro"/>
              </a:rPr>
              <a:t> ở cả Wide và Narrow</a:t>
            </a:r>
          </a:p>
        </p:txBody>
      </p:sp>
      <p:sp>
        <p:nvSpPr>
          <p:cNvPr id="2127" name="Google Shape;2127;p54"/>
          <p:cNvSpPr txBox="1"/>
          <p:nvPr/>
        </p:nvSpPr>
        <p:spPr>
          <a:xfrm>
            <a:off x="2183175" y="2262450"/>
            <a:ext cx="10071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Trajectory</a:t>
            </a:r>
          </a:p>
        </p:txBody>
      </p:sp>
      <p:sp>
        <p:nvSpPr>
          <p:cNvPr id="2128" name="Google Shape;2128;p54"/>
          <p:cNvSpPr txBox="1"/>
          <p:nvPr/>
        </p:nvSpPr>
        <p:spPr>
          <a:xfrm>
            <a:off x="782975" y="226245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02</a:t>
            </a:r>
            <a:endParaRPr b="1" sz="3000">
              <a:solidFill>
                <a:schemeClr val="dk2"/>
              </a:solidFill>
              <a:latin typeface="Be Vietnam Pro"/>
              <a:ea typeface="Be Vietnam Pro"/>
              <a:cs typeface="Be Vietnam Pro"/>
              <a:sym typeface="Be Vietnam Pro"/>
            </a:endParaRPr>
          </a:p>
        </p:txBody>
      </p:sp>
      <p:sp>
        <p:nvSpPr>
          <p:cNvPr id="2129" name="Google Shape;2129;p54"/>
          <p:cNvSpPr txBox="1"/>
          <p:nvPr/>
        </p:nvSpPr>
        <p:spPr>
          <a:xfrm>
            <a:off x="4020025" y="315315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Thiết kế trên expected rate thay vì 5 realizations: </a:t>
            </a:r>
            <a:r>
              <a:rPr lang="vi-VN" b="1">
                <a:solidFill>
                  <a:schemeClr val="dk1"/>
                </a:solidFill>
                <a:latin typeface="Be Vietnam Pro"/>
                <a:ea typeface="Be Vietnam Pro"/>
                <a:cs typeface="Be Vietnam Pro"/>
                <a:sym typeface="Be Vietnam Pro"/>
              </a:rPr>
              <a:t>−0.035</a:t>
            </a:r>
            <a:r>
              <a:rPr lang="vi-VN" b="0">
                <a:solidFill>
                  <a:schemeClr val="dk1"/>
                </a:solidFill>
                <a:latin typeface="Be Vietnam Pro"/>
                <a:ea typeface="Be Vietnam Pro"/>
                <a:cs typeface="Be Vietnam Pro"/>
                <a:sym typeface="Be Vietnam Pro"/>
              </a:rPr>
              <a:t> / </a:t>
            </a:r>
            <a:r>
              <a:rPr lang="vi-VN" b="1">
                <a:solidFill>
                  <a:schemeClr val="dk1"/>
                </a:solidFill>
                <a:latin typeface="Be Vietnam Pro"/>
                <a:ea typeface="Be Vietnam Pro"/>
                <a:cs typeface="Be Vietnam Pro"/>
                <a:sym typeface="Be Vietnam Pro"/>
              </a:rPr>
              <a:t>−0.027</a:t>
            </a:r>
          </a:p>
        </p:txBody>
      </p:sp>
      <p:sp>
        <p:nvSpPr>
          <p:cNvPr id="2130" name="Google Shape;2130;p54"/>
          <p:cNvSpPr txBox="1"/>
          <p:nvPr/>
        </p:nvSpPr>
        <p:spPr>
          <a:xfrm>
            <a:off x="2183175" y="3151500"/>
            <a:ext cx="10071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Sampling</a:t>
            </a:r>
          </a:p>
        </p:txBody>
      </p:sp>
      <p:sp>
        <p:nvSpPr>
          <p:cNvPr id="2131" name="Google Shape;2131;p54"/>
          <p:cNvSpPr txBox="1"/>
          <p:nvPr/>
        </p:nvSpPr>
        <p:spPr>
          <a:xfrm>
            <a:off x="782975" y="315150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03</a:t>
            </a:r>
            <a:endParaRPr b="1" sz="3000">
              <a:solidFill>
                <a:schemeClr val="dk2"/>
              </a:solidFill>
              <a:latin typeface="Be Vietnam Pro"/>
              <a:ea typeface="Be Vietnam Pro"/>
              <a:cs typeface="Be Vietnam Pro"/>
              <a:sym typeface="Be Vietnam Pro"/>
            </a:endParaRPr>
          </a:p>
        </p:txBody>
      </p:sp>
      <p:sp>
        <p:nvSpPr>
          <p:cNvPr id="2132" name="Google Shape;2132;p54"/>
          <p:cNvSpPr txBox="1"/>
          <p:nvPr/>
        </p:nvSpPr>
        <p:spPr>
          <a:xfrm>
            <a:off x="4020025" y="404385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bandwidth block hoặc repair operators: </a:t>
            </a:r>
            <a:r>
              <a:rPr lang="vi-VN" b="1">
                <a:solidFill>
                  <a:schemeClr val="dk1"/>
                </a:solidFill>
                <a:latin typeface="Be Vietnam Pro"/>
                <a:ea typeface="Be Vietnam Pro"/>
                <a:cs typeface="Be Vietnam Pro"/>
                <a:sym typeface="Be Vietnam Pro"/>
              </a:rPr>
              <a:t>≈ 0</a:t>
            </a:r>
            <a:r>
              <a:rPr lang="vi-VN" b="0">
                <a:solidFill>
                  <a:schemeClr val="dk1"/>
                </a:solidFill>
                <a:latin typeface="Be Vietnam Pro"/>
                <a:ea typeface="Be Vietnam Pro"/>
                <a:cs typeface="Be Vietnam Pro"/>
                <a:sym typeface="Be Vietnam Pro"/>
              </a:rPr>
              <a:t> (trong ±0.003)</a:t>
            </a:r>
          </a:p>
        </p:txBody>
      </p:sp>
      <p:sp>
        <p:nvSpPr>
          <p:cNvPr id="2133" name="Google Shape;2133;p54"/>
          <p:cNvSpPr txBox="1"/>
          <p:nvPr/>
        </p:nvSpPr>
        <p:spPr>
          <a:xfrm>
            <a:off x="2183175" y="4042200"/>
            <a:ext cx="11223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BW, repair</a:t>
            </a:r>
          </a:p>
        </p:txBody>
      </p:sp>
      <p:sp>
        <p:nvSpPr>
          <p:cNvPr id="2134" name="Google Shape;2134;p54"/>
          <p:cNvSpPr txBox="1"/>
          <p:nvPr/>
        </p:nvSpPr>
        <p:spPr>
          <a:xfrm>
            <a:off x="782975" y="404220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04</a:t>
            </a:r>
            <a:endParaRPr b="1" sz="3000">
              <a:solidFill>
                <a:schemeClr val="dk2"/>
              </a:solidFill>
              <a:latin typeface="Be Vietnam Pro"/>
              <a:ea typeface="Be Vietnam Pro"/>
              <a:cs typeface="Be Vietnam Pro"/>
              <a:sym typeface="Be Vietnam Pro"/>
            </a:endParaRPr>
          </a:p>
        </p:txBody>
      </p:sp>
      <p:cxnSp>
        <p:nvCxnSpPr>
          <p:cNvPr id="2135" name="Google Shape;2135;p54"/>
          <p:cNvCxnSpPr>
            <a:stCxn id="2125" idx="3"/>
            <a:endCxn id="2124" idx="1"/>
          </p:cNvCxnSpPr>
          <p:nvPr/>
        </p:nvCxnSpPr>
        <p:spPr>
          <a:xfrm>
            <a:off x="1505375" y="1651563"/>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36" name="Google Shape;2136;p54"/>
          <p:cNvCxnSpPr>
            <a:stCxn id="2124" idx="3"/>
            <a:endCxn id="2123" idx="1"/>
          </p:cNvCxnSpPr>
          <p:nvPr/>
        </p:nvCxnSpPr>
        <p:spPr>
          <a:xfrm>
            <a:off x="3496575" y="1651563"/>
            <a:ext cx="523500" cy="600"/>
          </a:xfrm>
          <a:prstGeom prst="bentConnector3">
            <a:avLst>
              <a:gd fmla="val 49995" name="adj1"/>
            </a:avLst>
          </a:prstGeom>
          <a:noFill/>
          <a:ln cap="flat" cmpd="sng" w="9525">
            <a:solidFill>
              <a:schemeClr val="lt2"/>
            </a:solidFill>
            <a:prstDash val="solid"/>
            <a:round/>
            <a:headEnd len="med" w="med" type="none"/>
            <a:tailEnd len="med" w="med" type="oval"/>
          </a:ln>
        </p:spPr>
      </p:cxnSp>
      <p:cxnSp>
        <p:nvCxnSpPr>
          <p:cNvPr id="2137" name="Google Shape;2137;p54"/>
          <p:cNvCxnSpPr>
            <a:stCxn id="2127" idx="3"/>
            <a:endCxn id="2126" idx="1"/>
          </p:cNvCxnSpPr>
          <p:nvPr/>
        </p:nvCxnSpPr>
        <p:spPr>
          <a:xfrm>
            <a:off x="3190275" y="2550450"/>
            <a:ext cx="829800" cy="600"/>
          </a:xfrm>
          <a:prstGeom prst="bentConnector3">
            <a:avLst>
              <a:gd fmla="val 49997" name="adj1"/>
            </a:avLst>
          </a:prstGeom>
          <a:noFill/>
          <a:ln cap="flat" cmpd="sng" w="9525">
            <a:solidFill>
              <a:schemeClr val="lt2"/>
            </a:solidFill>
            <a:prstDash val="solid"/>
            <a:round/>
            <a:headEnd len="med" w="med" type="none"/>
            <a:tailEnd len="med" w="med" type="oval"/>
          </a:ln>
        </p:spPr>
      </p:cxnSp>
      <p:cxnSp>
        <p:nvCxnSpPr>
          <p:cNvPr id="2138" name="Google Shape;2138;p54"/>
          <p:cNvCxnSpPr>
            <a:stCxn id="2130" idx="3"/>
            <a:endCxn id="2129" idx="1"/>
          </p:cNvCxnSpPr>
          <p:nvPr/>
        </p:nvCxnSpPr>
        <p:spPr>
          <a:xfrm>
            <a:off x="3190275" y="3439500"/>
            <a:ext cx="829800" cy="600"/>
          </a:xfrm>
          <a:prstGeom prst="bentConnector3">
            <a:avLst>
              <a:gd fmla="val 49997" name="adj1"/>
            </a:avLst>
          </a:prstGeom>
          <a:noFill/>
          <a:ln cap="flat" cmpd="sng" w="9525">
            <a:solidFill>
              <a:schemeClr val="lt2"/>
            </a:solidFill>
            <a:prstDash val="solid"/>
            <a:round/>
            <a:headEnd len="med" w="med" type="none"/>
            <a:tailEnd len="med" w="med" type="oval"/>
          </a:ln>
        </p:spPr>
      </p:cxnSp>
      <p:cxnSp>
        <p:nvCxnSpPr>
          <p:cNvPr id="2139" name="Google Shape;2139;p54"/>
          <p:cNvCxnSpPr>
            <a:endCxn id="2132" idx="1"/>
          </p:cNvCxnSpPr>
          <p:nvPr/>
        </p:nvCxnSpPr>
        <p:spPr>
          <a:xfrm>
            <a:off x="3305725" y="4329600"/>
            <a:ext cx="714300" cy="600"/>
          </a:xfrm>
          <a:prstGeom prst="bentConnector3">
            <a:avLst>
              <a:gd fmla="val 50000" name="adj1"/>
            </a:avLst>
          </a:prstGeom>
          <a:noFill/>
          <a:ln cap="flat" cmpd="sng" w="9525">
            <a:solidFill>
              <a:schemeClr val="lt2"/>
            </a:solidFill>
            <a:prstDash val="solid"/>
            <a:round/>
            <a:headEnd len="med" w="med" type="none"/>
            <a:tailEnd len="med" w="med" type="oval"/>
          </a:ln>
        </p:spPr>
      </p:cxnSp>
      <p:cxnSp>
        <p:nvCxnSpPr>
          <p:cNvPr id="2140" name="Google Shape;2140;p54"/>
          <p:cNvCxnSpPr>
            <a:stCxn id="2128" idx="3"/>
            <a:endCxn id="2127" idx="1"/>
          </p:cNvCxnSpPr>
          <p:nvPr/>
        </p:nvCxnSpPr>
        <p:spPr>
          <a:xfrm>
            <a:off x="1505375" y="255045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41" name="Google Shape;2141;p54"/>
          <p:cNvCxnSpPr>
            <a:stCxn id="2131" idx="3"/>
            <a:endCxn id="2130" idx="1"/>
          </p:cNvCxnSpPr>
          <p:nvPr/>
        </p:nvCxnSpPr>
        <p:spPr>
          <a:xfrm>
            <a:off x="1505375" y="343950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42" name="Google Shape;2142;p54"/>
          <p:cNvCxnSpPr>
            <a:stCxn id="2134" idx="3"/>
            <a:endCxn id="2133" idx="1"/>
          </p:cNvCxnSpPr>
          <p:nvPr/>
        </p:nvCxnSpPr>
        <p:spPr>
          <a:xfrm>
            <a:off x="1505375" y="433020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So với Tran-IA và case study</a:t>
            </a:r>
          </a:p>
        </p:txBody>
      </p:sp>
      <p:sp>
        <p:nvSpPr>
          <p:cNvPr id="1531" name="TextBox 1530"/>
          <p:cNvSpPr txBox="1"/>
          <p:nvPr/>
        </p:nvSpPr>
        <p:spPr>
          <a:xfrm>
            <a:off x="722376" y="1115568"/>
            <a:ext cx="4206240" cy="274320"/>
          </a:xfrm>
          <a:prstGeom prst="rect">
            <a:avLst/>
          </a:prstGeom>
          <a:noFill/>
        </p:spPr>
        <p:txBody>
          <a:bodyPr wrap="square" lIns="36576" rIns="36576" tIns="18288" bIns="18288" anchor="t">
            <a:spAutoFit/>
          </a:bodyPr>
          <a:lstStyle/>
          <a:p>
            <a:pPr algn="l">
              <a:spcAft>
                <a:spcPts val="400"/>
              </a:spcAft>
            </a:pPr>
            <a:r>
              <a:rPr sz="1100" b="1">
                <a:solidFill>
                  <a:srgbClr val="0C0A9E"/>
                </a:solidFill>
                <a:latin typeface="IBM Plex Mono"/>
              </a:rPr>
              <a:t>Benchmark: Tran-IA (adapted)</a:t>
            </a:r>
          </a:p>
        </p:txBody>
      </p:sp>
      <p:graphicFrame>
        <p:nvGraphicFramePr>
          <p:cNvPr id="1532" name="Table 1531"/>
          <p:cNvGraphicFramePr>
            <a:graphicFrameLocks noGrp="1"/>
          </p:cNvGraphicFramePr>
          <p:nvPr/>
        </p:nvGraphicFramePr>
        <p:xfrm>
          <a:off x="722376" y="1444752"/>
          <a:ext cx="4206240" cy="1645920"/>
        </p:xfrm>
        <a:graphic>
          <a:graphicData uri="http://schemas.openxmlformats.org/drawingml/2006/table">
            <a:tbl>
              <a:tblPr firstRow="0" bandRow="0">
                <a:tableStyleId>{5C22544A-7EE6-4342-B048-85BDC9FD1C3A}</a:tableStyleId>
              </a:tblPr>
              <a:tblGrid>
                <a:gridCol w="1143000"/>
                <a:gridCol w="914400"/>
                <a:gridCol w="914400"/>
                <a:gridCol w="1234440"/>
              </a:tblGrid>
              <a:tr h="329184">
                <a:tc>
                  <a:txBody>
                    <a:bodyPr wrap="square"/>
                    <a:lstStyle/>
                    <a:p>
                      <a:r>
                        <a:rPr sz="1000" b="1">
                          <a:solidFill>
                            <a:srgbClr val="FFFFFF"/>
                          </a:solidFill>
                          <a:latin typeface="IBM Plex Mono"/>
                        </a:rPr>
                        <a:t>Method</a:t>
                      </a:r>
                    </a:p>
                  </a:txBody>
                  <a:tcPr marL="64008" marR="64008" marT="27432" marB="27432" anchor="ctr">
                    <a:solidFill>
                      <a:srgbClr val="0C0A9E"/>
                    </a:solidFill>
                  </a:tcPr>
                </a:tc>
                <a:tc>
                  <a:txBody>
                    <a:bodyPr wrap="square"/>
                    <a:lstStyle/>
                    <a:p>
                      <a:r>
                        <a:rPr sz="1000" b="1">
                          <a:solidFill>
                            <a:srgbClr val="FFFFFF"/>
                          </a:solidFill>
                          <a:latin typeface="IBM Plex Mono"/>
                        </a:rPr>
                        <a:t>Wide</a:t>
                      </a:r>
                    </a:p>
                  </a:txBody>
                  <a:tcPr marL="64008" marR="64008" marT="27432" marB="27432" anchor="ctr">
                    <a:solidFill>
                      <a:srgbClr val="0C0A9E"/>
                    </a:solidFill>
                  </a:tcPr>
                </a:tc>
                <a:tc>
                  <a:txBody>
                    <a:bodyPr wrap="square"/>
                    <a:lstStyle/>
                    <a:p>
                      <a:r>
                        <a:rPr sz="1000" b="1">
                          <a:solidFill>
                            <a:srgbClr val="FFFFFF"/>
                          </a:solidFill>
                          <a:latin typeface="IBM Plex Mono"/>
                        </a:rPr>
                        <a:t>Narrow</a:t>
                      </a:r>
                    </a:p>
                  </a:txBody>
                  <a:tcPr marL="64008" marR="64008" marT="27432" marB="27432" anchor="ctr">
                    <a:solidFill>
                      <a:srgbClr val="0C0A9E"/>
                    </a:solidFill>
                  </a:tcPr>
                </a:tc>
                <a:tc>
                  <a:txBody>
                    <a:bodyPr wrap="square"/>
                    <a:lstStyle/>
                    <a:p>
                      <a:r>
                        <a:rPr sz="1000" b="1">
                          <a:solidFill>
                            <a:srgbClr val="FFFFFF"/>
                          </a:solidFill>
                          <a:latin typeface="IBM Plex Mono"/>
                        </a:rPr>
                        <a:t>Planning (s)</a:t>
                      </a:r>
                    </a:p>
                  </a:txBody>
                  <a:tcPr marL="64008" marR="64008" marT="27432" marB="27432" anchor="ctr">
                    <a:solidFill>
                      <a:srgbClr val="0C0A9E"/>
                    </a:solidFill>
                  </a:tcPr>
                </a:tc>
              </a:tr>
              <a:tr h="329184">
                <a:tc>
                  <a:txBody>
                    <a:bodyPr wrap="square"/>
                    <a:lstStyle/>
                    <a:p>
                      <a:r>
                        <a:rPr sz="1000" b="1">
                          <a:solidFill>
                            <a:srgbClr val="0C0A9E"/>
                          </a:solidFill>
                          <a:latin typeface="IBM Plex Mono"/>
                        </a:rPr>
                        <a:t>FixedTour</a:t>
                      </a:r>
                    </a:p>
                  </a:txBody>
                  <a:tcPr marL="64008" marR="64008" marT="27432" marB="27432" anchor="ctr">
                    <a:solidFill>
                      <a:srgbClr val="FFFFFF"/>
                    </a:solidFill>
                  </a:tcPr>
                </a:tc>
                <a:tc>
                  <a:txBody>
                    <a:bodyPr wrap="square"/>
                    <a:lstStyle/>
                    <a:p>
                      <a:r>
                        <a:rPr sz="1000" b="0">
                          <a:solidFill>
                            <a:srgbClr val="1D1D1D"/>
                          </a:solidFill>
                          <a:latin typeface="Be Vietnam Pro"/>
                        </a:rPr>
                        <a:t>0.494</a:t>
                      </a:r>
                    </a:p>
                  </a:txBody>
                  <a:tcPr marL="64008" marR="64008" marT="27432" marB="27432" anchor="ctr">
                    <a:solidFill>
                      <a:srgbClr val="FFFFFF"/>
                    </a:solidFill>
                  </a:tcPr>
                </a:tc>
                <a:tc>
                  <a:txBody>
                    <a:bodyPr wrap="square"/>
                    <a:lstStyle/>
                    <a:p>
                      <a:r>
                        <a:rPr sz="1000" b="0">
                          <a:solidFill>
                            <a:srgbClr val="1D1D1D"/>
                          </a:solidFill>
                          <a:latin typeface="Be Vietnam Pro"/>
                        </a:rPr>
                        <a:t>0.430</a:t>
                      </a:r>
                    </a:p>
                  </a:txBody>
                  <a:tcPr marL="64008" marR="64008" marT="27432" marB="27432" anchor="ctr">
                    <a:solidFill>
                      <a:srgbClr val="FFFFFF"/>
                    </a:solidFill>
                  </a:tcPr>
                </a:tc>
                <a:tc>
                  <a:txBody>
                    <a:bodyPr wrap="square"/>
                    <a:lstStyle/>
                    <a:p>
                      <a:r>
                        <a:rPr sz="1000" b="0">
                          <a:solidFill>
                            <a:srgbClr val="1D1D1D"/>
                          </a:solidFill>
                          <a:latin typeface="Be Vietnam Pro"/>
                        </a:rPr>
                        <a:t>0.1</a:t>
                      </a:r>
                    </a:p>
                  </a:txBody>
                  <a:tcPr marL="64008" marR="64008" marT="27432" marB="27432" anchor="ctr">
                    <a:solidFill>
                      <a:srgbClr val="FFFFFF"/>
                    </a:solidFill>
                  </a:tcPr>
                </a:tc>
              </a:tr>
              <a:tr h="329184">
                <a:tc>
                  <a:txBody>
                    <a:bodyPr wrap="square"/>
                    <a:lstStyle/>
                    <a:p>
                      <a:r>
                        <a:rPr sz="1000" b="1">
                          <a:solidFill>
                            <a:srgbClr val="0C0A9E"/>
                          </a:solidFill>
                          <a:latin typeface="IBM Plex Mono"/>
                        </a:rPr>
                        <a:t>Tran-IA</a:t>
                      </a:r>
                    </a:p>
                  </a:txBody>
                  <a:tcPr marL="64008" marR="64008" marT="27432" marB="27432" anchor="ctr">
                    <a:solidFill>
                      <a:srgbClr val="FFFFFF"/>
                    </a:solidFill>
                  </a:tcPr>
                </a:tc>
                <a:tc>
                  <a:txBody>
                    <a:bodyPr wrap="square"/>
                    <a:lstStyle/>
                    <a:p>
                      <a:r>
                        <a:rPr sz="1000" b="0">
                          <a:solidFill>
                            <a:srgbClr val="1D1D1D"/>
                          </a:solidFill>
                          <a:latin typeface="Be Vietnam Pro"/>
                        </a:rPr>
                        <a:t>0.530</a:t>
                      </a:r>
                    </a:p>
                  </a:txBody>
                  <a:tcPr marL="64008" marR="64008" marT="27432" marB="27432" anchor="ctr">
                    <a:solidFill>
                      <a:srgbClr val="FFFFFF"/>
                    </a:solidFill>
                  </a:tcPr>
                </a:tc>
                <a:tc>
                  <a:txBody>
                    <a:bodyPr wrap="square"/>
                    <a:lstStyle/>
                    <a:p>
                      <a:r>
                        <a:rPr sz="1000" b="0">
                          <a:solidFill>
                            <a:srgbClr val="1D1D1D"/>
                          </a:solidFill>
                          <a:latin typeface="Be Vietnam Pro"/>
                        </a:rPr>
                        <a:t>0.438</a:t>
                      </a:r>
                    </a:p>
                  </a:txBody>
                  <a:tcPr marL="64008" marR="64008" marT="27432" marB="27432" anchor="ctr">
                    <a:solidFill>
                      <a:srgbClr val="FFFFFF"/>
                    </a:solidFill>
                  </a:tcPr>
                </a:tc>
                <a:tc>
                  <a:txBody>
                    <a:bodyPr wrap="square"/>
                    <a:lstStyle/>
                    <a:p>
                      <a:r>
                        <a:rPr sz="1000" b="0">
                          <a:solidFill>
                            <a:srgbClr val="1D1D1D"/>
                          </a:solidFill>
                          <a:latin typeface="Be Vietnam Pro"/>
                        </a:rPr>
                        <a:t>266.2</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a:t>
                      </a:r>
                    </a:p>
                  </a:txBody>
                  <a:tcPr marL="64008" marR="64008" marT="27432" marB="27432" anchor="ctr">
                    <a:solidFill>
                      <a:srgbClr val="FFFFFF"/>
                    </a:solidFill>
                  </a:tcPr>
                </a:tc>
                <a:tc>
                  <a:txBody>
                    <a:bodyPr wrap="square"/>
                    <a:lstStyle/>
                    <a:p>
                      <a:r>
                        <a:rPr sz="1000" b="1">
                          <a:solidFill>
                            <a:srgbClr val="1D1D1D"/>
                          </a:solidFill>
                          <a:latin typeface="Be Vietnam Pro"/>
                        </a:rPr>
                        <a:t>0.551</a:t>
                      </a:r>
                    </a:p>
                  </a:txBody>
                  <a:tcPr marL="64008" marR="64008" marT="27432" marB="27432" anchor="ctr">
                    <a:solidFill>
                      <a:srgbClr val="FFFFFF"/>
                    </a:solidFill>
                  </a:tcPr>
                </a:tc>
                <a:tc>
                  <a:txBody>
                    <a:bodyPr wrap="square"/>
                    <a:lstStyle/>
                    <a:p>
                      <a:r>
                        <a:rPr sz="1000" b="1">
                          <a:solidFill>
                            <a:srgbClr val="1D1D1D"/>
                          </a:solidFill>
                          <a:latin typeface="Be Vietnam Pro"/>
                        </a:rPr>
                        <a:t>0.509</a:t>
                      </a:r>
                    </a:p>
                  </a:txBody>
                  <a:tcPr marL="64008" marR="64008" marT="27432" marB="27432" anchor="ctr">
                    <a:solidFill>
                      <a:srgbClr val="FFFFFF"/>
                    </a:solidFill>
                  </a:tcPr>
                </a:tc>
                <a:tc>
                  <a:txBody>
                    <a:bodyPr wrap="square"/>
                    <a:lstStyle/>
                    <a:p>
                      <a:r>
                        <a:rPr sz="1000" b="0">
                          <a:solidFill>
                            <a:srgbClr val="1D1D1D"/>
                          </a:solidFill>
                          <a:latin typeface="Be Vietnam Pro"/>
                        </a:rPr>
                        <a:t>150.1</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SBS-R</a:t>
                      </a:r>
                    </a:p>
                  </a:txBody>
                  <a:tcPr marL="64008" marR="64008" marT="27432" marB="27432" anchor="ctr">
                    <a:solidFill>
                      <a:srgbClr val="FFFFFF"/>
                    </a:solidFill>
                  </a:tcPr>
                </a:tc>
                <a:tc>
                  <a:txBody>
                    <a:bodyPr wrap="square"/>
                    <a:lstStyle/>
                    <a:p>
                      <a:r>
                        <a:rPr sz="1000" b="1">
                          <a:solidFill>
                            <a:srgbClr val="1D1D1D"/>
                          </a:solidFill>
                          <a:latin typeface="Be Vietnam Pro"/>
                        </a:rPr>
                        <a:t>0.553</a:t>
                      </a:r>
                    </a:p>
                  </a:txBody>
                  <a:tcPr marL="64008" marR="64008" marT="27432" marB="27432" anchor="ctr">
                    <a:solidFill>
                      <a:srgbClr val="FFFFFF"/>
                    </a:solidFill>
                  </a:tcPr>
                </a:tc>
                <a:tc>
                  <a:txBody>
                    <a:bodyPr wrap="square"/>
                    <a:lstStyle/>
                    <a:p>
                      <a:r>
                        <a:rPr sz="1000" b="1">
                          <a:solidFill>
                            <a:srgbClr val="1D1D1D"/>
                          </a:solidFill>
                          <a:latin typeface="Be Vietnam Pro"/>
                        </a:rPr>
                        <a:t>0.507</a:t>
                      </a:r>
                    </a:p>
                  </a:txBody>
                  <a:tcPr marL="64008" marR="64008" marT="27432" marB="27432" anchor="ctr">
                    <a:solidFill>
                      <a:srgbClr val="FFFFFF"/>
                    </a:solidFill>
                  </a:tcPr>
                </a:tc>
                <a:tc>
                  <a:txBody>
                    <a:bodyPr wrap="square"/>
                    <a:lstStyle/>
                    <a:p>
                      <a:r>
                        <a:rPr sz="1000" b="0">
                          <a:solidFill>
                            <a:srgbClr val="1D1D1D"/>
                          </a:solidFill>
                          <a:latin typeface="Be Vietnam Pro"/>
                        </a:rPr>
                        <a:t>155.6</a:t>
                      </a:r>
                    </a:p>
                  </a:txBody>
                  <a:tcPr marL="64008" marR="64008" marT="27432" marB="27432" anchor="ctr">
                    <a:solidFill>
                      <a:srgbClr val="FFFFFF"/>
                    </a:solidFill>
                  </a:tcPr>
                </a:tc>
              </a:tr>
            </a:tbl>
          </a:graphicData>
        </a:graphic>
      </p:graphicFrame>
      <p:sp>
        <p:nvSpPr>
          <p:cNvPr id="1533" name="TextBox 1532"/>
          <p:cNvSpPr txBox="1"/>
          <p:nvPr/>
        </p:nvSpPr>
        <p:spPr>
          <a:xfrm>
            <a:off x="722376" y="3200400"/>
            <a:ext cx="4206240" cy="109728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SBS hơn Tran-IA +0.021 (Wide), +0.071 (Narrow)</a:t>
            </a:r>
          </a:p>
          <a:p>
            <a:pPr algn="l" marL="171450" indent="-171450">
              <a:spcAft>
                <a:spcPts val="200"/>
              </a:spcAft>
              <a:buClr>
                <a:srgbClr val="EB9109"/>
              </a:buClr>
              <a:buFont typeface="Arial"/>
              <a:buChar char="•"/>
            </a:pPr>
            <a:r>
              <a:rPr sz="950" b="0">
                <a:solidFill>
                  <a:srgbClr val="1D1D1D"/>
                </a:solidFill>
                <a:latin typeface="Be Vietnam Pro"/>
              </a:rPr>
              <a:t>Chưa significant sau Holm (p = 0.71 / 0.15)</a:t>
            </a:r>
          </a:p>
          <a:p>
            <a:pPr algn="l" marL="171450" indent="-171450">
              <a:spcAft>
                <a:spcPts val="200"/>
              </a:spcAft>
              <a:buClr>
                <a:srgbClr val="EB9109"/>
              </a:buClr>
              <a:buFont typeface="Arial"/>
              <a:buChar char="•"/>
            </a:pPr>
            <a:r>
              <a:rPr sz="950" b="0">
                <a:solidFill>
                  <a:srgbClr val="1D1D1D"/>
                </a:solidFill>
                <a:latin typeface="Be Vietnam Pro"/>
              </a:rPr>
              <a:t>Tran-IA dùng deterministic channel, không biết backhaul</a:t>
            </a:r>
          </a:p>
        </p:txBody>
      </p:sp>
      <p:sp>
        <p:nvSpPr>
          <p:cNvPr id="1534" name="TextBox 1533"/>
          <p:cNvSpPr txBox="1"/>
          <p:nvPr/>
        </p:nvSpPr>
        <p:spPr>
          <a:xfrm>
            <a:off x="5257800" y="1115568"/>
            <a:ext cx="3163824" cy="274320"/>
          </a:xfrm>
          <a:prstGeom prst="rect">
            <a:avLst/>
          </a:prstGeom>
          <a:noFill/>
        </p:spPr>
        <p:txBody>
          <a:bodyPr wrap="square" lIns="36576" rIns="36576" tIns="18288" bIns="18288" anchor="t">
            <a:spAutoFit/>
          </a:bodyPr>
          <a:lstStyle/>
          <a:p>
            <a:pPr algn="l">
              <a:spcAft>
                <a:spcPts val="400"/>
              </a:spcAft>
            </a:pPr>
            <a:r>
              <a:rPr sz="1100" b="1">
                <a:solidFill>
                  <a:srgbClr val="8208D5"/>
                </a:solidFill>
                <a:latin typeface="IBM Plex Mono"/>
              </a:rPr>
              <a:t>RescueNet, 63 targets</a:t>
            </a:r>
          </a:p>
        </p:txBody>
      </p:sp>
      <p:graphicFrame>
        <p:nvGraphicFramePr>
          <p:cNvPr id="1535" name="Table 1534"/>
          <p:cNvGraphicFramePr>
            <a:graphicFrameLocks noGrp="1"/>
          </p:cNvGraphicFramePr>
          <p:nvPr/>
        </p:nvGraphicFramePr>
        <p:xfrm>
          <a:off x="5257800" y="1444752"/>
          <a:ext cx="3163824" cy="1975104"/>
        </p:xfrm>
        <a:graphic>
          <a:graphicData uri="http://schemas.openxmlformats.org/drawingml/2006/table">
            <a:tbl>
              <a:tblPr firstRow="0" bandRow="0">
                <a:tableStyleId>{5C22544A-7EE6-4342-B048-85BDC9FD1C3A}</a:tableStyleId>
              </a:tblPr>
              <a:tblGrid>
                <a:gridCol w="1463040"/>
                <a:gridCol w="1700784"/>
              </a:tblGrid>
              <a:tr h="329184">
                <a:tc>
                  <a:txBody>
                    <a:bodyPr wrap="square"/>
                    <a:lstStyle/>
                    <a:p>
                      <a:r>
                        <a:rPr sz="1000" b="1">
                          <a:solidFill>
                            <a:srgbClr val="FFFFFF"/>
                          </a:solidFill>
                          <a:latin typeface="IBM Plex Mono"/>
                        </a:rPr>
                        <a:t>Method</a:t>
                      </a:r>
                    </a:p>
                  </a:txBody>
                  <a:tcPr marL="64008" marR="64008" marT="27432" marB="27432" anchor="ctr">
                    <a:solidFill>
                      <a:srgbClr val="0C0A9E"/>
                    </a:solidFill>
                  </a:tcPr>
                </a:tc>
                <a:tc>
                  <a:txBody>
                    <a:bodyPr wrap="square"/>
                    <a:lstStyle/>
                    <a:p>
                      <a:r>
                        <a:rPr sz="1000" b="1">
                          <a:solidFill>
                            <a:srgbClr val="FFFFFF"/>
                          </a:solidFill>
                          <a:latin typeface="IBM Plex Mono"/>
                        </a:rPr>
                        <a:t>Timely ratio</a:t>
                      </a:r>
                    </a:p>
                  </a:txBody>
                  <a:tcPr marL="64008" marR="64008" marT="27432" marB="27432" anchor="ctr">
                    <a:solidFill>
                      <a:srgbClr val="0C0A9E"/>
                    </a:solidFill>
                  </a:tcPr>
                </a:tc>
              </a:tr>
              <a:tr h="329184">
                <a:tc>
                  <a:txBody>
                    <a:bodyPr wrap="square"/>
                    <a:lstStyle/>
                    <a:p>
                      <a:r>
                        <a:rPr sz="1000" b="1">
                          <a:solidFill>
                            <a:srgbClr val="0C0A9E"/>
                          </a:solidFill>
                          <a:latin typeface="IBM Plex Mono"/>
                        </a:rPr>
                        <a:t>NoUAV</a:t>
                      </a:r>
                    </a:p>
                  </a:txBody>
                  <a:tcPr marL="64008" marR="64008" marT="27432" marB="27432" anchor="ctr">
                    <a:solidFill>
                      <a:srgbClr val="FFFFFF"/>
                    </a:solidFill>
                  </a:tcPr>
                </a:tc>
                <a:tc>
                  <a:txBody>
                    <a:bodyPr wrap="square"/>
                    <a:lstStyle/>
                    <a:p>
                      <a:r>
                        <a:rPr sz="1000" b="0">
                          <a:solidFill>
                            <a:srgbClr val="1D1D1D"/>
                          </a:solidFill>
                          <a:latin typeface="Be Vietnam Pro"/>
                        </a:rPr>
                        <a:t>0.312</a:t>
                      </a:r>
                    </a:p>
                  </a:txBody>
                  <a:tcPr marL="64008" marR="64008" marT="27432" marB="27432" anchor="ctr">
                    <a:solidFill>
                      <a:srgbClr val="FFFFFF"/>
                    </a:solidFill>
                  </a:tcPr>
                </a:tc>
              </a:tr>
              <a:tr h="329184">
                <a:tc>
                  <a:txBody>
                    <a:bodyPr wrap="square"/>
                    <a:lstStyle/>
                    <a:p>
                      <a:r>
                        <a:rPr sz="1000" b="1">
                          <a:solidFill>
                            <a:srgbClr val="0C0A9E"/>
                          </a:solidFill>
                          <a:latin typeface="IBM Plex Mono"/>
                        </a:rPr>
                        <a:t>FixedTour</a:t>
                      </a:r>
                    </a:p>
                  </a:txBody>
                  <a:tcPr marL="64008" marR="64008" marT="27432" marB="27432" anchor="ctr">
                    <a:solidFill>
                      <a:srgbClr val="FFFFFF"/>
                    </a:solidFill>
                  </a:tcPr>
                </a:tc>
                <a:tc>
                  <a:txBody>
                    <a:bodyPr wrap="square"/>
                    <a:lstStyle/>
                    <a:p>
                      <a:r>
                        <a:rPr sz="1000" b="0">
                          <a:solidFill>
                            <a:srgbClr val="1D1D1D"/>
                          </a:solidFill>
                          <a:latin typeface="Be Vietnam Pro"/>
                        </a:rPr>
                        <a:t>0.395</a:t>
                      </a:r>
                    </a:p>
                  </a:txBody>
                  <a:tcPr marL="64008" marR="64008" marT="27432" marB="27432" anchor="ctr">
                    <a:solidFill>
                      <a:srgbClr val="FFFFFF"/>
                    </a:solidFill>
                  </a:tcPr>
                </a:tc>
              </a:tr>
              <a:tr h="329184">
                <a:tc>
                  <a:txBody>
                    <a:bodyPr wrap="square"/>
                    <a:lstStyle/>
                    <a:p>
                      <a:r>
                        <a:rPr sz="1000" b="1">
                          <a:solidFill>
                            <a:srgbClr val="0C0A9E"/>
                          </a:solidFill>
                          <a:latin typeface="IBM Plex Mono"/>
                        </a:rPr>
                        <a:t>Tran-IA</a:t>
                      </a:r>
                    </a:p>
                  </a:txBody>
                  <a:tcPr marL="64008" marR="64008" marT="27432" marB="27432" anchor="ctr">
                    <a:solidFill>
                      <a:srgbClr val="FFFFFF"/>
                    </a:solidFill>
                  </a:tcPr>
                </a:tc>
                <a:tc>
                  <a:txBody>
                    <a:bodyPr wrap="square"/>
                    <a:lstStyle/>
                    <a:p>
                      <a:r>
                        <a:rPr sz="1000" b="0">
                          <a:solidFill>
                            <a:srgbClr val="1D1D1D"/>
                          </a:solidFill>
                          <a:latin typeface="Be Vietnam Pro"/>
                        </a:rPr>
                        <a:t>0.450</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a:t>
                      </a:r>
                    </a:p>
                  </a:txBody>
                  <a:tcPr marL="64008" marR="64008" marT="27432" marB="27432" anchor="ctr">
                    <a:solidFill>
                      <a:srgbClr val="FFFFFF"/>
                    </a:solidFill>
                  </a:tcPr>
                </a:tc>
                <a:tc>
                  <a:txBody>
                    <a:bodyPr wrap="square"/>
                    <a:lstStyle/>
                    <a:p>
                      <a:r>
                        <a:rPr sz="1000" b="1">
                          <a:solidFill>
                            <a:srgbClr val="1D1D1D"/>
                          </a:solidFill>
                          <a:latin typeface="Be Vietnam Pro"/>
                        </a:rPr>
                        <a:t>0.457</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SBS-R</a:t>
                      </a:r>
                    </a:p>
                  </a:txBody>
                  <a:tcPr marL="64008" marR="64008" marT="27432" marB="27432" anchor="ctr">
                    <a:solidFill>
                      <a:srgbClr val="FFFFFF"/>
                    </a:solidFill>
                  </a:tcPr>
                </a:tc>
                <a:tc>
                  <a:txBody>
                    <a:bodyPr wrap="square"/>
                    <a:lstStyle/>
                    <a:p>
                      <a:r>
                        <a:rPr sz="1000" b="1">
                          <a:solidFill>
                            <a:srgbClr val="1D1D1D"/>
                          </a:solidFill>
                          <a:latin typeface="Be Vietnam Pro"/>
                        </a:rPr>
                        <a:t>0.457</a:t>
                      </a:r>
                    </a:p>
                  </a:txBody>
                  <a:tcPr marL="64008" marR="64008" marT="27432" marB="27432" anchor="ctr">
                    <a:solidFill>
                      <a:srgbClr val="FFFFFF"/>
                    </a:solidFill>
                  </a:tcPr>
                </a:tc>
              </a:tr>
            </a:tbl>
          </a:graphicData>
        </a:graphic>
      </p:graphicFrame>
      <p:sp>
        <p:nvSpPr>
          <p:cNvPr id="1536" name="TextBox 1535"/>
          <p:cNvSpPr txBox="1"/>
          <p:nvPr/>
        </p:nvSpPr>
        <p:spPr>
          <a:xfrm>
            <a:off x="5257800" y="3520440"/>
            <a:ext cx="3163824" cy="73152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Thứ hạng các method được giữ nguyên trên layout thật</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6" name="Shape 2216"/>
        <p:cNvGrpSpPr/>
        <p:nvPr/>
      </p:nvGrpSpPr>
      <p:grpSpPr>
        <a:xfrm>
          <a:off x="0" y="0"/>
          <a:ext cx="0" cy="0"/>
          <a:chOff x="0" y="0"/>
          <a:chExt cx="0" cy="0"/>
        </a:xfrm>
      </p:grpSpPr>
      <p:sp>
        <p:nvSpPr>
          <p:cNvPr id="2217" name="Google Shape;2217;p5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Kết luận</a:t>
            </a:r>
          </a:p>
        </p:txBody>
      </p:sp>
      <p:sp>
        <p:nvSpPr>
          <p:cNvPr id="2218" name="Google Shape;2218;p58"/>
          <p:cNvSpPr txBox="1"/>
          <p:nvPr>
            <p:ph idx="1" type="subTitle"/>
          </p:nvPr>
        </p:nvSpPr>
        <p:spPr>
          <a:xfrm>
            <a:off x="713225" y="2041525"/>
            <a:ext cx="5578500" cy="8686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thực tế hơn: alert có deadline qua ground network có backhaul hữu hạn. Chứng minh NP-hard, có LP upper bound; SBS tăng timely-delivery ratio trên mọi topology.</a:t>
            </a:r>
          </a:p>
        </p:txBody>
      </p:sp>
      <p:sp>
        <p:nvSpPr>
          <p:cNvPr id="2219" name="Google Shape;2219;p58"/>
          <p:cNvSpPr txBox="1"/>
          <p:nvPr>
            <p:ph idx="2" type="subTitle"/>
          </p:nvPr>
        </p:nvSpPr>
        <p:spPr>
          <a:xfrm>
            <a:off x="713225" y="3630168"/>
            <a:ext cx="5578500" cy="8686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là heuristic, gap tới envelope bound còn khoảng 0.23, phần lớn do relax integrality. Hướng tiếp: bound chặt hơn, repair đổi nhiều alert cùng lúc, case study với dữ liệu đo thật.</a:t>
            </a:r>
          </a:p>
        </p:txBody>
      </p:sp>
      <p:sp>
        <p:nvSpPr>
          <p:cNvPr id="2220" name="Google Shape;2220;p58"/>
          <p:cNvSpPr txBox="1"/>
          <p:nvPr>
            <p:ph idx="3" type="subTitle"/>
          </p:nvPr>
        </p:nvSpPr>
        <p:spPr>
          <a:xfrm>
            <a:off x="713225" y="1679400"/>
            <a:ext cx="55785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Đóng góp</a:t>
            </a:r>
          </a:p>
        </p:txBody>
      </p:sp>
      <p:sp>
        <p:nvSpPr>
          <p:cNvPr id="2221" name="Google Shape;2221;p58"/>
          <p:cNvSpPr txBox="1"/>
          <p:nvPr>
            <p:ph idx="4" type="subTitle"/>
          </p:nvPr>
        </p:nvSpPr>
        <p:spPr>
          <a:xfrm>
            <a:off x="713225" y="3291840"/>
            <a:ext cx="55785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Hạn chế và hướng phát triển</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0" name="Shape 2410"/>
        <p:cNvGrpSpPr/>
        <p:nvPr/>
      </p:nvGrpSpPr>
      <p:grpSpPr>
        <a:xfrm>
          <a:off x="0" y="0"/>
          <a:ext cx="0" cy="0"/>
          <a:chOff x="0" y="0"/>
          <a:chExt cx="0" cy="0"/>
        </a:xfrm>
      </p:grpSpPr>
      <p:sp>
        <p:nvSpPr>
          <p:cNvPr id="2411" name="Google Shape;2411;p64"/>
          <p:cNvSpPr txBox="1"/>
          <p:nvPr>
            <p:ph idx="1" type="subTitle"/>
          </p:nvPr>
        </p:nvSpPr>
        <p:spPr>
          <a:xfrm>
            <a:off x="1157250" y="1609575"/>
            <a:ext cx="4448100" cy="123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Câu hỏi và thảo luận?</a:t>
            </a:r>
          </a:p>
        </p:txBody>
      </p:sp>
      <p:sp>
        <p:nvSpPr>
          <p:cNvPr id="2412" name="Google Shape;2412;p64"/>
          <p:cNvSpPr txBox="1"/>
          <p:nvPr>
            <p:ph type="title"/>
          </p:nvPr>
        </p:nvSpPr>
        <p:spPr>
          <a:xfrm>
            <a:off x="1157302" y="494775"/>
            <a:ext cx="5126700" cy="105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Cảm ơn!</a:t>
            </a:r>
          </a:p>
        </p:txBody>
      </p:sp>
      <p:grpSp>
        <p:nvGrpSpPr>
          <p:cNvPr id="2431" name="Google Shape;2431;p64"/>
          <p:cNvGrpSpPr/>
          <p:nvPr/>
        </p:nvGrpSpPr>
        <p:grpSpPr>
          <a:xfrm flipH="1" rot="10800000">
            <a:off x="6773992" y="-1205456"/>
            <a:ext cx="4151819" cy="5527900"/>
            <a:chOff x="6309526" y="836950"/>
            <a:chExt cx="3920509" cy="5219925"/>
          </a:xfrm>
        </p:grpSpPr>
        <p:pic>
          <p:nvPicPr>
            <p:cNvPr id="2432" name="Google Shape;2432;p64"/>
            <p:cNvPicPr preferRelativeResize="0"/>
            <p:nvPr/>
          </p:nvPicPr>
          <p:blipFill rotWithShape="1">
            <a:blip r:embed="rId3">
              <a:alphaModFix/>
            </a:blip>
            <a:srcRect b="26177" l="16960" r="7121" t="24719"/>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64"/>
            <p:cNvSpPr/>
            <p:nvPr/>
          </p:nvSpPr>
          <p:spPr>
            <a:xfrm rot="10800000">
              <a:off x="7694795" y="2941747"/>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64"/>
            <p:cNvSpPr/>
            <p:nvPr/>
          </p:nvSpPr>
          <p:spPr>
            <a:xfrm>
              <a:off x="6309526" y="8369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6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6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6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6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6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6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53" name="Google Shape;2453;p64"/>
            <p:cNvSpPr/>
            <p:nvPr/>
          </p:nvSpPr>
          <p:spPr>
            <a:xfrm>
              <a:off x="8430775" y="2842975"/>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64"/>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64"/>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64"/>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64"/>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62" name="Google Shape;2462;p64"/>
            <p:cNvSpPr/>
            <p:nvPr/>
          </p:nvSpPr>
          <p:spPr>
            <a:xfrm rot="5400000">
              <a:off x="7687039" y="1023058"/>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3" name="Google Shape;2463;p64"/>
          <p:cNvGrpSpPr/>
          <p:nvPr/>
        </p:nvGrpSpPr>
        <p:grpSpPr>
          <a:xfrm>
            <a:off x="1234025" y="2240280"/>
            <a:ext cx="4558967" cy="134100"/>
            <a:chOff x="796100" y="3019701"/>
            <a:chExt cx="4558967" cy="134100"/>
          </a:xfrm>
        </p:grpSpPr>
        <p:sp>
          <p:nvSpPr>
            <p:cNvPr id="2464" name="Google Shape;2464;p64"/>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65" name="Google Shape;2465;p64"/>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466" name="Google Shape;2466;p64"/>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